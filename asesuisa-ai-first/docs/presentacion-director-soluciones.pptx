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53D"/>
                </a:solidFill>
                <a:latin typeface="Arial"/>
              </a:defRPr>
            </a:pPr>
            <a:r>
              <a:rPr sz="1400" b="0" i="0" u="none" strike="noStrike">
                <a:solidFill>
                  <a:srgbClr val="14253D"/>
                </a:solidFill>
                <a:latin typeface="Arial"/>
              </a:rPr>
              <a:t>¿Dónde se va la capacidad? (base = 100)</a:t>
            </a:r>
          </a:p>
        </c:rich>
      </c:tx>
      <c:layout/>
      <c:overlay val="0"/>
    </c:title>
    <c:autoTitleDeleted val="0"/>
    <c:plotArea>
      <c:layout/>
      <c:barChart>
        <c:barDir val="bar"/>
        <c:grouping val="percentStacked"/>
        <c:varyColors val="0"/>
        <c:ser>
          <c:idx val="0"/>
          <c:order val="0"/>
          <c:tx>
            <c:strRef>
              <c:f>Sheet1!$B$1</c:f>
              <c:strCache>
                <c:ptCount val="1"/>
                <c:pt idx="0">
                  <c:v>Retrabajo y aclaraciones (dato del caso)</c:v>
                </c:pt>
              </c:strCache>
            </c:strRef>
          </c:tx>
          <c:spPr>
            <a:solidFill>
              <a:srgbClr val="B3261E"/>
            </a:solidFill>
            <a:effectLst/>
          </c:spPr>
          <c:invertIfNegative val="0"/>
          <c:dLbls>
            <c:numFmt formatCode="0&quot;%&quot;" sourceLinked="0"/>
            <c:txPr>
              <a:bodyPr/>
              <a:lstStyle/>
              <a:p>
                <a:pPr>
                  <a:defRPr b="1" i="0" strike="noStrike" sz="1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Capacidad actual</c:v>
                  </c:pt>
                </c:lvl>
              </c:multiLvlStrCache>
            </c:multiLvlStrRef>
          </c:cat>
          <c:val>
            <c:numRef>
              <c:f>Sheet1!$B$2:$B$2</c:f>
              <c:numCache>
                <c:formatCode>General</c:formatCode>
                <c:ptCount val="1"/>
                <c:pt idx="0">
                  <c:v>25</c:v>
                </c:pt>
              </c:numCache>
            </c:numRef>
          </c:val>
        </c:ser>
        <c:ser>
          <c:idx val="1"/>
          <c:order val="1"/>
          <c:tx>
            <c:strRef>
              <c:f>Sheet1!$C$1</c:f>
              <c:strCache>
                <c:ptCount val="1"/>
                <c:pt idx="0">
                  <c:v>Trabajo repetitivo (supuesto)</c:v>
                </c:pt>
              </c:strCache>
            </c:strRef>
          </c:tx>
          <c:spPr>
            <a:solidFill>
              <a:srgbClr val="8A5A00"/>
            </a:solidFill>
            <a:effectLst/>
          </c:spPr>
          <c:invertIfNegative val="0"/>
          <c:dLbls>
            <c:numFmt formatCode="0&quot;%&quot;" sourceLinked="0"/>
            <c:txPr>
              <a:bodyPr/>
              <a:lstStyle/>
              <a:p>
                <a:pPr>
                  <a:defRPr b="1" i="0" strike="noStrike" sz="1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Capacidad actual</c:v>
                  </c:pt>
                </c:lvl>
              </c:multiLvlStrCache>
            </c:multiLvlStrRef>
          </c:cat>
          <c:val>
            <c:numRef>
              <c:f>Sheet1!$C$2:$C$2</c:f>
              <c:numCache>
                <c:formatCode>General</c:formatCode>
                <c:ptCount val="1"/>
                <c:pt idx="0">
                  <c:v>20</c:v>
                </c:pt>
              </c:numCache>
            </c:numRef>
          </c:val>
        </c:ser>
        <c:ser>
          <c:idx val="2"/>
          <c:order val="2"/>
          <c:tx>
            <c:strRef>
              <c:f>Sheet1!$D$1</c:f>
              <c:strCache>
                <c:ptCount val="1"/>
                <c:pt idx="0">
                  <c:v>Trabajo núcleo (supuesto)</c:v>
                </c:pt>
              </c:strCache>
            </c:strRef>
          </c:tx>
          <c:spPr>
            <a:solidFill>
              <a:srgbClr val="1F4E8C"/>
            </a:solidFill>
            <a:effectLst/>
          </c:spPr>
          <c:invertIfNegative val="0"/>
          <c:dLbls>
            <c:numFmt formatCode="0&quot;%&quot;" sourceLinked="0"/>
            <c:txPr>
              <a:bodyPr/>
              <a:lstStyle/>
              <a:p>
                <a:pPr>
                  <a:defRPr b="1" i="0" strike="noStrike" sz="16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Capacidad actual</c:v>
                  </c:pt>
                </c:lvl>
              </c:multiLvlStrCache>
            </c:multiLvlStrRef>
          </c:cat>
          <c:val>
            <c:numRef>
              <c:f>Sheet1!$D$2:$D$2</c:f>
              <c:numCache>
                <c:formatCode>General</c:formatCode>
                <c:ptCount val="1"/>
                <c:pt idx="0">
                  <c:v>55</c:v>
                </c:pt>
              </c:numCache>
            </c:numRef>
          </c:val>
        </c:ser>
        <c:dLbls>
          <c:numFmt formatCode="0&quot;%&quot;" sourceLinked="0"/>
          <c:txPr>
            <a:bodyPr/>
            <a:lstStyle/>
            <a:p>
              <a:pPr>
                <a:defRPr b="1" i="0" strike="noStrike" sz="16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53D"/>
                </a:solidFill>
                <a:latin typeface="Arial"/>
              </a:defRPr>
            </a:pPr>
            <a:r>
              <a:rPr sz="1400" b="0" i="0" u="none" strike="noStrike">
                <a:solidFill>
                  <a:srgbClr val="14253D"/>
                </a:solidFill>
                <a:latin typeface="Arial"/>
              </a:rPr>
              <a:t>Puente de capacidad: caso Base (supuestos)</a:t>
            </a:r>
          </a:p>
        </c:rich>
      </c:tx>
      <c:layout/>
      <c:overlay val="0"/>
    </c:title>
    <c:autoTitleDeleted val="0"/>
    <c:plotArea>
      <c:layout/>
      <c:barChart>
        <c:barDir val="col"/>
        <c:grouping val="clustered"/>
        <c:varyColors val="0"/>
        <c:ser>
          <c:idx val="0"/>
          <c:order val="0"/>
          <c:tx>
            <c:strRef>
              <c:f>Sheet1!$B$1</c:f>
              <c:strCache>
                <c:ptCount val="1"/>
                <c:pt idx="0">
                  <c:v>Capacidad acumulada (caso Base)</c:v>
                </c:pt>
              </c:strCache>
            </c:strRef>
          </c:tx>
          <c:spPr>
            <a:solidFill>
              <a:srgbClr val="1F4E8C"/>
            </a:solidFill>
            <a:effectLst/>
          </c:spPr>
          <c:invertIfNegative val="0"/>
          <c:dLbls>
            <c:numFmt formatCode="0.00&quot;×&quot;" sourceLinked="0"/>
            <c:txPr>
              <a:bodyPr/>
              <a:lstStyle/>
              <a:p>
                <a:pPr>
                  <a:defRPr b="1" i="0" strike="noStrike" sz="1200" u="none">
                    <a:solidFill>
                      <a:srgbClr val="FFFFFF"/>
                    </a:solidFill>
                    <a:latin typeface="Arial"/>
                  </a:defRPr>
                </a:pPr>
              </a:p>
            </c:txPr>
            <c:dLblPos val="inBase"/>
            <c:showLegendKey val="0"/>
            <c:showVal val="1"/>
            <c:showCatName val="0"/>
            <c:showSerName val="0"/>
            <c:showPercent val="0"/>
            <c:showBubbleSize val="0"/>
            <c:showLeaderLines val="0"/>
          </c:dLbls>
          <c:cat>
            <c:multiLvlStrRef>
              <c:f>Sheet1!$A$2:$A$7</c:f>
              <c:multiLvlStrCache>
                <c:ptCount val="6"/>
                <c:lvl>
                  <c:pt idx="0">
                    <c:v>Base</c:v>
                  </c:pt>
                  <c:pt idx="1">
                    <c:v>Retrabajo</c:v>
                  </c:pt>
                  <c:pt idx="2">
                    <c:v>Trabajo repetitivo</c:v>
                  </c:pt>
                  <c:pt idx="3">
                    <c:v>IA en núcleo</c:v>
                  </c:pt>
                  <c:pt idx="4">
                    <c:v>Reuso</c:v>
                  </c:pt>
                  <c:pt idx="5">
                    <c:v>Gestión de demanda</c:v>
                  </c:pt>
                </c:lvl>
              </c:multiLvlStrCache>
            </c:multiLvlStrRef>
          </c:cat>
          <c:val>
            <c:numRef>
              <c:f>Sheet1!$B$2:$B$7</c:f>
              <c:numCache>
                <c:formatCode>General</c:formatCode>
                <c:ptCount val="6"/>
                <c:pt idx="0">
                  <c:v>1</c:v>
                </c:pt>
                <c:pt idx="1">
                  <c:v>1.15</c:v>
                </c:pt>
                <c:pt idx="2">
                  <c:v>1.28</c:v>
                </c:pt>
                <c:pt idx="3">
                  <c:v>1.43</c:v>
                </c:pt>
                <c:pt idx="4">
                  <c:v>1.48</c:v>
                </c:pt>
                <c:pt idx="5">
                  <c:v>1.61</c:v>
                </c:pt>
              </c:numCache>
            </c:numRef>
          </c:val>
        </c:ser>
        <c:dLbls>
          <c:numFmt formatCode="0.00&quot;×&quot;" sourceLinked="0"/>
          <c:txPr>
            <a:bodyPr/>
            <a:lstStyle/>
            <a:p>
              <a:pPr>
                <a:defRPr b="1" i="0" strike="noStrike" sz="1200" u="none">
                  <a:solidFill>
                    <a:srgbClr val="FFFFFF"/>
                  </a:solidFill>
                  <a:latin typeface="Arial"/>
                </a:defRPr>
              </a:pPr>
            </a:p>
          </c:txPr>
          <c:dLblPos val="inBase"/>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Demanda +50% (1.5×)</c:v>
                </c:pt>
              </c:strCache>
            </c:strRef>
          </c:tx>
          <c:spPr>
            <a:solidFill>
              <a:srgbClr val="8A5A00"/>
            </a:solidFill>
            <a:ln w="25400" cap="flat">
              <a:solidFill>
                <a:srgbClr val="8A5A00"/>
              </a:solidFill>
              <a:prstDash val="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3261E"/>
              </a:solidFill>
              <a:ln w="9525" cap="flat">
                <a:solidFill>
                  <a:srgbClr val="8A5A00"/>
                </a:solidFill>
                <a:prstDash val="solid"/>
                <a:round/>
              </a:ln>
              <a:effectLst/>
            </c:spPr>
          </c:marker>
          <c:cat>
            <c:multiLvlStrRef>
              <c:f>Sheet1!$A$2:$A$7</c:f>
              <c:multiLvlStrCache>
                <c:ptCount val="6"/>
                <c:lvl>
                  <c:pt idx="0">
                    <c:v>Base</c:v>
                  </c:pt>
                  <c:pt idx="1">
                    <c:v>Retrabajo</c:v>
                  </c:pt>
                  <c:pt idx="2">
                    <c:v>Trabajo repetitivo</c:v>
                  </c:pt>
                  <c:pt idx="3">
                    <c:v>IA en núcleo</c:v>
                  </c:pt>
                  <c:pt idx="4">
                    <c:v>Reuso</c:v>
                  </c:pt>
                  <c:pt idx="5">
                    <c:v>Gestión de demanda</c:v>
                  </c:pt>
                </c:lvl>
              </c:multiLvlStrCache>
            </c:multiLvlStrRef>
          </c:cat>
          <c:val>
            <c:numRef>
              <c:f>Sheet1!$C$2:$C$7</c:f>
              <c:numCache>
                <c:formatCode>General</c:formatCode>
                <c:ptCount val="6"/>
                <c:pt idx="0">
                  <c:v>1.5</c:v>
                </c:pt>
                <c:pt idx="1">
                  <c:v>1.5</c:v>
                </c:pt>
                <c:pt idx="2">
                  <c:v>1.5</c:v>
                </c:pt>
                <c:pt idx="3">
                  <c:v>1.5</c:v>
                </c:pt>
                <c:pt idx="4">
                  <c:v>1.5</c:v>
                </c:pt>
                <c:pt idx="5">
                  <c:v>1.5</c:v>
                </c:pt>
              </c:numCache>
            </c:numRef>
          </c:val>
          <c:smooth val="0"/>
        </c:ser>
        <c:ser>
          <c:idx val="2"/>
          <c:order val="2"/>
          <c:tx>
            <c:strRef>
              <c:f>Sheet1!$D$1</c:f>
              <c:strCache>
                <c:ptCount val="1"/>
                <c:pt idx="0">
                  <c:v>Meta 2×</c:v>
                </c:pt>
              </c:strCache>
            </c:strRef>
          </c:tx>
          <c:spPr>
            <a:solidFill>
              <a:srgbClr val="B3261E"/>
            </a:solidFill>
            <a:ln w="25400" cap="flat">
              <a:solidFill>
                <a:srgbClr val="B3261E"/>
              </a:solidFill>
              <a:prstDash val="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3261E"/>
              </a:solidFill>
              <a:ln w="9525" cap="flat">
                <a:solidFill>
                  <a:srgbClr val="B3261E"/>
                </a:solidFill>
                <a:prstDash val="solid"/>
                <a:round/>
              </a:ln>
              <a:effectLst/>
            </c:spPr>
          </c:marker>
          <c:cat>
            <c:multiLvlStrRef>
              <c:f>Sheet1!$A$2:$A$7</c:f>
              <c:multiLvlStrCache>
                <c:ptCount val="6"/>
                <c:lvl>
                  <c:pt idx="0">
                    <c:v>Base</c:v>
                  </c:pt>
                  <c:pt idx="1">
                    <c:v>Retrabajo</c:v>
                  </c:pt>
                  <c:pt idx="2">
                    <c:v>Trabajo repetitivo</c:v>
                  </c:pt>
                  <c:pt idx="3">
                    <c:v>IA en núcleo</c:v>
                  </c:pt>
                  <c:pt idx="4">
                    <c:v>Reuso</c:v>
                  </c:pt>
                  <c:pt idx="5">
                    <c:v>Gestión de demanda</c:v>
                  </c:pt>
                </c:lvl>
              </c:multiLvlStrCache>
            </c:multiLvlStrRef>
          </c:cat>
          <c:val>
            <c:numRef>
              <c:f>Sheet1!$D$2:$D$7</c:f>
              <c:numCache>
                <c:formatCode>General</c:formatCode>
                <c:ptCount val="6"/>
                <c:pt idx="0">
                  <c:v>2</c:v>
                </c:pt>
                <c:pt idx="1">
                  <c:v>2</c:v>
                </c:pt>
                <c:pt idx="2">
                  <c:v>2</c:v>
                </c:pt>
                <c:pt idx="3">
                  <c:v>2</c:v>
                </c:pt>
                <c:pt idx="4">
                  <c:v>2</c:v>
                </c:pt>
                <c:pt idx="5">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D9DEE5"/>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6"/>
                </a:solidFill>
                <a:latin typeface="Arial"/>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 POR QUÉ. Abrir con la tesis, no con la tecnología. Dar las tres cifras del caso y, en el mismo minuto, decir que 2× es la meta de la dirección y que voy a mostrar qué tendría que ser verdad para llegar y qué compromiso me parece defendible. Credibilidad desde el primer minuto: la cifra y su límite a la vez. Adelantar la estructura: siete preguntas (qué, por qué, cómo, cuándo, cuánto, cómo medir, cómo controlar el riesgo) y, al final, decisiones concretas. Tiempo: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Los datos del caso son estos; el reparto 20/55 del resto es un supuesto mío y lo digo yo antes de que me lo pregunten: si el retrabajo real es menor, el techo del modelo baja. Ejemplo concreto: un requerimiento dice 'rápido y fácil'; a mitad del desarrollo el equipo pregunta cuánto es rápido; negocio responde dos semanas después; mientras tanto se construyó algo que se rehace. Ese ciclo pregunta-espera-rehacer cuesta una de cada cuatro horas. Propongo hacer la pregunta el primer día. Tiempo: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Tres cambios de rol: el líder técnico deja de documentar a mano y es la revisión humana final; QA deja la regresión manual y diseña calidad; el Scrum Master gestiona el flujo. Dos figuras sin plazas nuevas: Platform &amp; Enablement (internos reasignados, repuestos con capacidad de proveedores) y un campeón de IA por célula. Proveedores: hoy se paga por horas, nadie gana por reducir retrabajo; pasamos a resultados con scorecard de calidad, entrega, seguridad y documentación. Riesgo: resistencia; control: 'capacidad, no reemplazo'. Tiempo: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 CÓMO CONTROLAR EL RIESGO. El flujo tiene catorce etapas; estas seis puertas son las que importan. Entrada: ataca el retrabajo en su origen. Construcción: la IA propone, siempre en borrador y citando la frase del requerimiento; si falta el beneficio, escribe 'por confirmar', no lo inventa. Controles: política estática antes de ejecutar código generado; pruebas que verifican el contrato; SAST, secretos y dependencias. Salida: evidencia automática y aprobación humana segregada. DEMO (60-90 s): requerimiento pobre bloqueado; refinado; un código con 'import subprocess' bloqueado y nunca ejecutado. Aclarar: datos sintéticos y el generador es determinista, no un LLM. Riesgos: pruebas que pasan por inercia (se comprueba rompiendo el servicio) y aprobación sin leer (se muestra lo no verificado). Tiempo: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CONTROLAR EL RIESGO. Principio: independencia del modelo y de la nube. Todo acceso a modelos pasa por el Gateway: redacta información personal antes de que llegue al proveedor, valida la salida contra un esquema, hace respaldo si falla un proveedor y audita. Cambiar de proveedor es configuración: control de costo y plan de salida. Autonomía de 0 a 5, techo 3 el primer año; en el MVP no existe una identidad de IA con permisos de aprobación. REGULACIÓN, con precisión: la NRP-23 aplica expresamente a sociedades de seguros (lo comprobé en el Art. 2 d); usar un modelo alojado por un tercero es tercerizar actividades de TI, con condiciones de propiedad de datos, aislamiento, acceso del regulador y plan de salida; por eso propongo datos sintéticos o enmascarados hasta cerrar ese expediente con Cumplimiento. Hay normas que NO he podido confirmar (ley de datos personales) y las dejo por confirmar. No afirmo cumplimiento. Brecha: el sandbox de la demo es de proceso; para un LLM real, contenedor sin red. Tiempo: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CUÁNDO. Cinco tramos, cada uno con una decisión y un criterio de parada. Primer mes: escuchar, medir (en dos células registro dónde se va el tiempo durante dos semanas, para confirmar o corregir 25/20/55), acordar con Cumplimiento qué se automatiza y qué normas aplican, y fijar los criterios de decisión de los 90 días ANTES de ver resultados. Mis primeras decisiones personales: cómo se define y mide la capacidad entregada, qué células son piloto, qué se automatiza y qué no, qué modelo y con qué datos. A los 90 días: continuar, ajustar o parar. Si mejora la velocidad pero empeora una salvaguarda, ajustamos; no escalamos. Quick wins: calidad del requerimiento, pruebas automatizadas y evidencia. Tiempo: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CUÁNTO / CÓMO MEDIR. Cinco palancas: retrabajo, trabajo repetitivo, IA sobre el núcleo, reuso y gestión de la demanda. Lo que dice el modelo, sin suavizar: (1) la palanca principal es el retrabajo, no el código; (2) 2× es el techo de mis rangos, no el valor esperado; (3) el caso Base (1.48×) no cubre por sí solo el +50% de demanda, lo cubre en valor (1.61×); (4) con adopción parcial la mediana simulada es 1.42×. Por eso el compromiso es una escalera: piso 1.3× (≈92% de probabilidad en la simulación), objetivo 1.5×, meta 2× con su camino explícito. Si el negocio acepta diferir ese 26%, la IA deja de ser la parte frágil del plan. En dinero: son costos evitados (no se contrata a nadie), los montos son ilustrativos hasta que Finanzas aporte los reales, y el conservador pierde dinero el primer año. Una mejora de velocidad que empeora una salvaguarda se reporta como fallo. Tiempo: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y la petición. Cerrar con las decisiones, no con un resumen. Qué NO haré: prometer 100% de automatización, enviar datos de clientes sin cerrar el expediente de tercerización, eliminar un control sin cobertura demostrable, reemplazar personas con IA. Dejar el tiempo de preguntas con las tres más probables preparadas: (1) ¿duplicamos? — meta 2× de valor, techo de mis rangos, camino explícito, piso 1.3×, medimos a los 90 días; (2) ¿fuga de datos? — el modelo nunca ve PII, sin datos de clientes a terceros hasta cerrar la tercerización; (3) ¿quién responde por un error de la IA? — quien aprueba, segregado, auditado y con riesgos reconocidos. Tiempo: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53D"/>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t"/>
          <a:lstStyle/>
          <a:p>
            <a:pPr indent="0" marL="0">
              <a:buNone/>
            </a:pPr>
            <a:r>
              <a:rPr lang="en-US" sz="1400" spc="200" kern="0" dirty="0">
                <a:solidFill>
                  <a:srgbClr val="9AA8B8"/>
                </a:solidFill>
                <a:latin typeface="Calibri" pitchFamily="34" charset="0"/>
                <a:ea typeface="Calibri" pitchFamily="34" charset="-122"/>
                <a:cs typeface="Calibri" pitchFamily="34" charset="-120"/>
              </a:rPr>
              <a:t>TRANSFORMACIÓN AI-FIRST DEL CICLO DE ENTREGA DE SOFTWARE</a:t>
            </a:r>
            <a:endParaRPr lang="en-US" sz="1400" dirty="0"/>
          </a:p>
        </p:txBody>
      </p:sp>
      <p:sp>
        <p:nvSpPr>
          <p:cNvPr id="3" name="Text 1"/>
          <p:cNvSpPr txBox="1"/>
          <p:nvPr/>
        </p:nvSpPr>
        <p:spPr>
          <a:xfrm>
            <a:off x="548640" y="1143000"/>
            <a:ext cx="10424160" cy="173736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Duplicar la capacidad no es duplicar el esfuerzo</a:t>
            </a:r>
            <a:endParaRPr lang="en-US" sz="4800" dirty="0"/>
          </a:p>
        </p:txBody>
      </p:sp>
      <p:sp>
        <p:nvSpPr>
          <p:cNvPr id="4" name="Text 2"/>
          <p:cNvSpPr txBox="1"/>
          <p:nvPr/>
        </p:nvSpPr>
        <p:spPr>
          <a:xfrm>
            <a:off x="548640" y="2926080"/>
            <a:ext cx="8778240" cy="914400"/>
          </a:xfrm>
          <a:prstGeom prst="rect">
            <a:avLst/>
          </a:prstGeom>
          <a:noFill/>
          <a:ln/>
        </p:spPr>
        <p:txBody>
          <a:bodyPr wrap="square" lIns="0" tIns="0" rIns="0" bIns="0" rtlCol="0" anchor="t"/>
          <a:lstStyle/>
          <a:p>
            <a:pPr indent="0" marL="0">
              <a:buNone/>
            </a:pPr>
            <a:r>
              <a:rPr lang="en-US" sz="1800" dirty="0">
                <a:solidFill>
                  <a:srgbClr val="CFD8E6"/>
                </a:solidFill>
                <a:latin typeface="Calibri" pitchFamily="34" charset="0"/>
                <a:ea typeface="Calibri" pitchFamily="34" charset="-122"/>
                <a:cs typeface="Calibri" pitchFamily="34" charset="-120"/>
              </a:rPr>
              <a:t>La capacidad que falta no está en escribir código más rápido: está en lo que se pierde alrededor del código. Rediseñamos el sistema de entrega y la IA lo multiplica, con los controles integrados al flujo.</a:t>
            </a:r>
            <a:endParaRPr lang="en-US" sz="1800" dirty="0"/>
          </a:p>
        </p:txBody>
      </p:sp>
      <p:sp>
        <p:nvSpPr>
          <p:cNvPr id="5" name="Shape 3"/>
          <p:cNvSpPr/>
          <p:nvPr/>
        </p:nvSpPr>
        <p:spPr>
          <a:xfrm>
            <a:off x="548640" y="4160520"/>
            <a:ext cx="3474720" cy="1417320"/>
          </a:xfrm>
          <a:prstGeom prst="roundRect">
            <a:avLst>
              <a:gd name="adj" fmla="val 5161"/>
            </a:avLst>
          </a:prstGeom>
          <a:solidFill>
            <a:srgbClr val="1D3558"/>
          </a:solidFill>
          <a:ln w="9525">
            <a:solidFill>
              <a:srgbClr val="2B4A75"/>
            </a:solidFill>
            <a:prstDash val="solid"/>
          </a:ln>
        </p:spPr>
      </p:sp>
      <p:sp>
        <p:nvSpPr>
          <p:cNvPr id="6" name="Text 4"/>
          <p:cNvSpPr txBox="1"/>
          <p:nvPr/>
        </p:nvSpPr>
        <p:spPr>
          <a:xfrm>
            <a:off x="822960" y="4279392"/>
            <a:ext cx="146304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25%</a:t>
            </a:r>
            <a:endParaRPr lang="en-US" sz="4400" dirty="0"/>
          </a:p>
        </p:txBody>
      </p:sp>
      <p:sp>
        <p:nvSpPr>
          <p:cNvPr id="7" name="Text 5"/>
          <p:cNvSpPr txBox="1"/>
          <p:nvPr/>
        </p:nvSpPr>
        <p:spPr>
          <a:xfrm>
            <a:off x="2240280" y="4279392"/>
            <a:ext cx="1645920" cy="1097280"/>
          </a:xfrm>
          <a:prstGeom prst="rect">
            <a:avLst/>
          </a:prstGeom>
          <a:noFill/>
          <a:ln/>
        </p:spPr>
        <p:txBody>
          <a:bodyPr wrap="square" lIns="0" tIns="0" rIns="0" bIns="0" rtlCol="0" anchor="ctr"/>
          <a:lstStyle/>
          <a:p>
            <a:pPr indent="0" marL="0">
              <a:buNone/>
            </a:pPr>
            <a:r>
              <a:rPr lang="en-US" sz="1400" dirty="0">
                <a:solidFill>
                  <a:srgbClr val="CFD8E6"/>
                </a:solidFill>
                <a:latin typeface="Calibri" pitchFamily="34" charset="0"/>
                <a:ea typeface="Calibri" pitchFamily="34" charset="-122"/>
                <a:cs typeface="Calibri" pitchFamily="34" charset="-120"/>
              </a:rPr>
              <a:t>de la capacidad se va en aclaraciones y retrabajo</a:t>
            </a:r>
            <a:endParaRPr lang="en-US" sz="1400" dirty="0"/>
          </a:p>
        </p:txBody>
      </p:sp>
      <p:sp>
        <p:nvSpPr>
          <p:cNvPr id="8" name="Shape 6"/>
          <p:cNvSpPr/>
          <p:nvPr/>
        </p:nvSpPr>
        <p:spPr>
          <a:xfrm>
            <a:off x="4251960" y="4160520"/>
            <a:ext cx="3474720" cy="1417320"/>
          </a:xfrm>
          <a:prstGeom prst="roundRect">
            <a:avLst>
              <a:gd name="adj" fmla="val 5161"/>
            </a:avLst>
          </a:prstGeom>
          <a:solidFill>
            <a:srgbClr val="1D3558"/>
          </a:solidFill>
          <a:ln w="9525">
            <a:solidFill>
              <a:srgbClr val="2B4A75"/>
            </a:solidFill>
            <a:prstDash val="solid"/>
          </a:ln>
        </p:spPr>
      </p:sp>
      <p:sp>
        <p:nvSpPr>
          <p:cNvPr id="9" name="Text 7"/>
          <p:cNvSpPr txBox="1"/>
          <p:nvPr/>
        </p:nvSpPr>
        <p:spPr>
          <a:xfrm>
            <a:off x="4526280" y="4279392"/>
            <a:ext cx="146304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10%</a:t>
            </a:r>
            <a:endParaRPr lang="en-US" sz="4400" dirty="0"/>
          </a:p>
        </p:txBody>
      </p:sp>
      <p:sp>
        <p:nvSpPr>
          <p:cNvPr id="10" name="Text 8"/>
          <p:cNvSpPr txBox="1"/>
          <p:nvPr/>
        </p:nvSpPr>
        <p:spPr>
          <a:xfrm>
            <a:off x="5943600" y="4279392"/>
            <a:ext cx="1645920" cy="1097280"/>
          </a:xfrm>
          <a:prstGeom prst="rect">
            <a:avLst/>
          </a:prstGeom>
          <a:noFill/>
          <a:ln/>
        </p:spPr>
        <p:txBody>
          <a:bodyPr wrap="square" lIns="0" tIns="0" rIns="0" bIns="0" rtlCol="0" anchor="ctr"/>
          <a:lstStyle/>
          <a:p>
            <a:pPr indent="0" marL="0">
              <a:buNone/>
            </a:pPr>
            <a:r>
              <a:rPr lang="en-US" sz="1400" dirty="0">
                <a:solidFill>
                  <a:srgbClr val="CFD8E6"/>
                </a:solidFill>
                <a:latin typeface="Calibri" pitchFamily="34" charset="0"/>
                <a:ea typeface="Calibri" pitchFamily="34" charset="-122"/>
                <a:cs typeface="Calibri" pitchFamily="34" charset="-120"/>
              </a:rPr>
              <a:t>de las pruebas están automatizadas</a:t>
            </a:r>
            <a:endParaRPr lang="en-US" sz="1400" dirty="0"/>
          </a:p>
        </p:txBody>
      </p:sp>
      <p:sp>
        <p:nvSpPr>
          <p:cNvPr id="11" name="Shape 9"/>
          <p:cNvSpPr/>
          <p:nvPr/>
        </p:nvSpPr>
        <p:spPr>
          <a:xfrm>
            <a:off x="7955280" y="4160520"/>
            <a:ext cx="3474720" cy="1417320"/>
          </a:xfrm>
          <a:prstGeom prst="roundRect">
            <a:avLst>
              <a:gd name="adj" fmla="val 5161"/>
            </a:avLst>
          </a:prstGeom>
          <a:solidFill>
            <a:srgbClr val="1D3558"/>
          </a:solidFill>
          <a:ln w="9525">
            <a:solidFill>
              <a:srgbClr val="2B4A75"/>
            </a:solidFill>
            <a:prstDash val="solid"/>
          </a:ln>
        </p:spPr>
      </p:sp>
      <p:sp>
        <p:nvSpPr>
          <p:cNvPr id="12" name="Text 10"/>
          <p:cNvSpPr txBox="1"/>
          <p:nvPr/>
        </p:nvSpPr>
        <p:spPr>
          <a:xfrm>
            <a:off x="8229600" y="4279392"/>
            <a:ext cx="146304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30%</a:t>
            </a:r>
            <a:endParaRPr lang="en-US" sz="4400" dirty="0"/>
          </a:p>
        </p:txBody>
      </p:sp>
      <p:sp>
        <p:nvSpPr>
          <p:cNvPr id="13" name="Text 11"/>
          <p:cNvSpPr txBox="1"/>
          <p:nvPr/>
        </p:nvSpPr>
        <p:spPr>
          <a:xfrm>
            <a:off x="9646920" y="4279392"/>
            <a:ext cx="1645920" cy="1097280"/>
          </a:xfrm>
          <a:prstGeom prst="rect">
            <a:avLst/>
          </a:prstGeom>
          <a:noFill/>
          <a:ln/>
        </p:spPr>
        <p:txBody>
          <a:bodyPr wrap="square" lIns="0" tIns="0" rIns="0" bIns="0" rtlCol="0" anchor="ctr"/>
          <a:lstStyle/>
          <a:p>
            <a:pPr indent="0" marL="0">
              <a:buNone/>
            </a:pPr>
            <a:r>
              <a:rPr lang="en-US" sz="1400" dirty="0">
                <a:solidFill>
                  <a:srgbClr val="CFD8E6"/>
                </a:solidFill>
                <a:latin typeface="Calibri" pitchFamily="34" charset="0"/>
                <a:ea typeface="Calibri" pitchFamily="34" charset="-122"/>
                <a:cs typeface="Calibri" pitchFamily="34" charset="-120"/>
              </a:rPr>
              <a:t>de los cambios vuelve por documentación</a:t>
            </a:r>
            <a:endParaRPr lang="en-US" sz="1400" dirty="0"/>
          </a:p>
        </p:txBody>
      </p:sp>
      <p:sp>
        <p:nvSpPr>
          <p:cNvPr id="14" name="Text 12"/>
          <p:cNvSpPr txBox="1"/>
          <p:nvPr/>
        </p:nvSpPr>
        <p:spPr>
          <a:xfrm>
            <a:off x="548640" y="5852160"/>
            <a:ext cx="11091672" cy="365760"/>
          </a:xfrm>
          <a:prstGeom prst="rect">
            <a:avLst/>
          </a:prstGeom>
          <a:noFill/>
          <a:ln/>
        </p:spPr>
        <p:txBody>
          <a:bodyPr wrap="square" lIns="0" tIns="0" rIns="0" bIns="0" rtlCol="0" anchor="t"/>
          <a:lstStyle/>
          <a:p>
            <a:pPr indent="0" marL="0">
              <a:buNone/>
            </a:pPr>
            <a:r>
              <a:rPr lang="en-US" sz="1400" b="1" dirty="0">
                <a:solidFill>
                  <a:srgbClr val="F2C14E"/>
                </a:solidFill>
                <a:latin typeface="Calibri" pitchFamily="34" charset="0"/>
                <a:ea typeface="Calibri" pitchFamily="34" charset="-122"/>
                <a:cs typeface="Calibri" pitchFamily="34" charset="-120"/>
              </a:rPr>
              <a:t>Meta de la dirección: 2×  ·  Compromiso en escalera: piso 1.3×, objetivo 1.5×, meta 2× con camino explícito  ·  Autonomía de IA L3, aprobación siempre humana</a:t>
            </a:r>
            <a:endParaRPr lang="en-US" sz="1400" dirty="0"/>
          </a:p>
        </p:txBody>
      </p:sp>
      <p:sp>
        <p:nvSpPr>
          <p:cNvPr id="15" name="Text 13"/>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9AA8B8"/>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El sistema actual pierde capacidad en cinco sitios y la demanda sube 50%</a:t>
            </a:r>
            <a:endParaRPr lang="en-US" sz="3200" dirty="0"/>
          </a:p>
        </p:txBody>
      </p:sp>
      <p:graphicFrame>
        <p:nvGraphicFramePr>
          <p:cNvPr id="3" name="Chart 0" descr=""/>
          <p:cNvGraphicFramePr/>
          <p:nvPr/>
        </p:nvGraphicFramePr>
        <p:xfrm>
          <a:off x="548640" y="155448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400800" y="1554480"/>
            <a:ext cx="5257800" cy="4206240"/>
          </a:xfrm>
          <a:prstGeom prst="roundRect">
            <a:avLst>
              <a:gd name="adj" fmla="val 1739"/>
            </a:avLst>
          </a:prstGeom>
          <a:solidFill>
            <a:srgbClr val="F4F6F8"/>
          </a:solidFill>
          <a:ln w="9525">
            <a:solidFill>
              <a:srgbClr val="D9DEE5"/>
            </a:solidFill>
            <a:prstDash val="solid"/>
          </a:ln>
        </p:spPr>
      </p:sp>
      <p:sp>
        <p:nvSpPr>
          <p:cNvPr id="5" name="Text 2"/>
          <p:cNvSpPr txBox="1"/>
          <p:nvPr/>
        </p:nvSpPr>
        <p:spPr>
          <a:xfrm>
            <a:off x="6675120" y="17830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25% en aclaraciones y retrabajo: casi siempre nace en el requerimiento.</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10% de pruebas automatizadas: QA es el cuello de botella y 12% de los defectos aparece después de QA.</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30% de cambios devueltos por documentación; 2 releases al mes; 8% de incidentes por cambio.</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75% de la capacidad es externa; 8 iniciativas simultáneas sobre 8 células.</a:t>
            </a:r>
            <a:endParaRPr lang="en-US" sz="1600" dirty="0"/>
          </a:p>
        </p:txBody>
      </p:sp>
      <p:sp>
        <p:nvSpPr>
          <p:cNvPr id="6" name="Text 3"/>
          <p:cNvSpPr txBox="1"/>
          <p:nvPr/>
        </p:nvSpPr>
        <p:spPr>
          <a:xfrm>
            <a:off x="6675120" y="5029200"/>
            <a:ext cx="4754880" cy="548640"/>
          </a:xfrm>
          <a:prstGeom prst="rect">
            <a:avLst/>
          </a:prstGeom>
          <a:noFill/>
          <a:ln/>
        </p:spPr>
        <p:txBody>
          <a:bodyPr wrap="square" lIns="0" tIns="0" rIns="0" bIns="0" rtlCol="0" anchor="t"/>
          <a:lstStyle/>
          <a:p>
            <a:pPr indent="0" marL="0">
              <a:buNone/>
            </a:pPr>
            <a:r>
              <a:rPr lang="en-US" sz="1300" b="1" dirty="0">
                <a:solidFill>
                  <a:srgbClr val="1F4E8C"/>
                </a:solidFill>
                <a:latin typeface="Calibri" pitchFamily="34" charset="0"/>
                <a:ea typeface="Calibri" pitchFamily="34" charset="-122"/>
                <a:cs typeface="Calibri" pitchFamily="34" charset="-120"/>
              </a:rPr>
              <a:t>Lead time 20 semanas  ·  Defectos post-QA 12%  ·  Change failure rate 8%</a:t>
            </a:r>
            <a:endParaRPr lang="en-US" sz="1300" dirty="0"/>
          </a:p>
        </p:txBody>
      </p:sp>
      <p:sp>
        <p:nvSpPr>
          <p:cNvPr id="7" name="Text 4"/>
          <p:cNvSpPr txBox="1"/>
          <p:nvPr/>
        </p:nvSpPr>
        <p:spPr>
          <a:xfrm>
            <a:off x="548640" y="5897880"/>
            <a:ext cx="5486400" cy="365760"/>
          </a:xfrm>
          <a:prstGeom prst="rect">
            <a:avLst/>
          </a:prstGeom>
          <a:noFill/>
          <a:ln/>
        </p:spPr>
        <p:txBody>
          <a:bodyPr wrap="square" lIns="0" tIns="0" rIns="0" bIns="0" rtlCol="0" anchor="t"/>
          <a:lstStyle/>
          <a:p>
            <a:pPr indent="0" marL="0">
              <a:buNone/>
            </a:pPr>
            <a:r>
              <a:rPr lang="en-US" sz="1200" i="1" dirty="0">
                <a:solidFill>
                  <a:srgbClr val="8A5A00"/>
                </a:solidFill>
                <a:latin typeface="Calibri" pitchFamily="34" charset="0"/>
                <a:ea typeface="Calibri" pitchFamily="34" charset="-122"/>
                <a:cs typeface="Calibri" pitchFamily="34" charset="-120"/>
              </a:rPr>
              <a:t>La distribución 20 / 55 es un supuesto propio: se valida en 30 días con muestreo de tiempos.</a:t>
            </a:r>
            <a:endParaRPr lang="en-US" sz="1200" dirty="0"/>
          </a:p>
        </p:txBody>
      </p:sp>
      <p:sp>
        <p:nvSpPr>
          <p:cNvPr id="8" name="Text 5"/>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De 8 células tradicionales a 8 células aumentadas por una plataforma común</a:t>
            </a:r>
            <a:endParaRPr lang="en-US" sz="3200" dirty="0"/>
          </a:p>
        </p:txBody>
      </p:sp>
      <p:sp>
        <p:nvSpPr>
          <p:cNvPr id="3" name="Shape 1"/>
          <p:cNvSpPr/>
          <p:nvPr/>
        </p:nvSpPr>
        <p:spPr>
          <a:xfrm>
            <a:off x="548640" y="1554480"/>
            <a:ext cx="5760720" cy="4251960"/>
          </a:xfrm>
          <a:prstGeom prst="roundRect">
            <a:avLst>
              <a:gd name="adj" fmla="val 1720"/>
            </a:avLst>
          </a:prstGeom>
          <a:solidFill>
            <a:srgbClr val="DCE8F7"/>
          </a:solidFill>
          <a:ln w="9525">
            <a:solidFill>
              <a:srgbClr val="D9DEE5"/>
            </a:solidFill>
            <a:prstDash val="solid"/>
          </a:ln>
        </p:spPr>
      </p:sp>
      <p:sp>
        <p:nvSpPr>
          <p:cNvPr id="4" name="Text 2"/>
          <p:cNvSpPr txBox="1"/>
          <p:nvPr/>
        </p:nvSpPr>
        <p:spPr>
          <a:xfrm>
            <a:off x="777240" y="1664208"/>
            <a:ext cx="5303520" cy="320040"/>
          </a:xfrm>
          <a:prstGeom prst="rect">
            <a:avLst/>
          </a:prstGeom>
          <a:noFill/>
          <a:ln/>
        </p:spPr>
        <p:txBody>
          <a:bodyPr wrap="square" lIns="0" tIns="0" rIns="0" bIns="0" rtlCol="0" anchor="t"/>
          <a:lstStyle/>
          <a:p>
            <a:pPr indent="0" marL="0">
              <a:buNone/>
            </a:pPr>
            <a:r>
              <a:rPr lang="en-US" sz="1200" b="1" spc="100" kern="0" dirty="0">
                <a:solidFill>
                  <a:srgbClr val="1F4E8C"/>
                </a:solidFill>
                <a:latin typeface="Calibri" pitchFamily="34" charset="0"/>
                <a:ea typeface="Calibri" pitchFamily="34" charset="-122"/>
                <a:cs typeface="Calibri" pitchFamily="34" charset="-120"/>
              </a:rPr>
              <a:t>PLATAFORMA AI-FIRST COMÚN</a:t>
            </a:r>
            <a:endParaRPr lang="en-US" sz="1200" dirty="0"/>
          </a:p>
        </p:txBody>
      </p:sp>
      <p:sp>
        <p:nvSpPr>
          <p:cNvPr id="5" name="Shape 3"/>
          <p:cNvSpPr/>
          <p:nvPr/>
        </p:nvSpPr>
        <p:spPr>
          <a:xfrm>
            <a:off x="777240" y="2057400"/>
            <a:ext cx="1280160" cy="640080"/>
          </a:xfrm>
          <a:prstGeom prst="roundRect">
            <a:avLst>
              <a:gd name="adj" fmla="val 8571"/>
            </a:avLst>
          </a:prstGeom>
          <a:solidFill>
            <a:srgbClr val="FFFFFF"/>
          </a:solidFill>
          <a:ln w="12700">
            <a:solidFill>
              <a:srgbClr val="1F4E8C"/>
            </a:solidFill>
            <a:prstDash val="solid"/>
          </a:ln>
        </p:spPr>
      </p:sp>
      <p:sp>
        <p:nvSpPr>
          <p:cNvPr id="6" name="Text 4"/>
          <p:cNvSpPr txBox="1"/>
          <p:nvPr/>
        </p:nvSpPr>
        <p:spPr>
          <a:xfrm>
            <a:off x="777240" y="2057400"/>
            <a:ext cx="1280160" cy="640080"/>
          </a:xfrm>
          <a:prstGeom prst="rect">
            <a:avLst/>
          </a:prstGeom>
          <a:noFill/>
          <a:ln/>
        </p:spPr>
        <p:txBody>
          <a:bodyPr wrap="square" lIns="0" tIns="0" rIns="0" bIns="0" rtlCol="0" anchor="ctr"/>
          <a:lstStyle/>
          <a:p>
            <a:pPr algn="ctr" indent="0" marL="0">
              <a:buNone/>
            </a:pPr>
            <a:r>
              <a:rPr lang="en-US" sz="1200" b="1" dirty="0">
                <a:solidFill>
                  <a:srgbClr val="14253D"/>
                </a:solidFill>
                <a:latin typeface="Calibri" pitchFamily="34" charset="0"/>
                <a:ea typeface="Calibri" pitchFamily="34" charset="-122"/>
                <a:cs typeface="Calibri" pitchFamily="34" charset="-120"/>
              </a:rPr>
              <a:t>Gateway de IA</a:t>
            </a:r>
            <a:endParaRPr lang="en-US" sz="1200" dirty="0"/>
          </a:p>
        </p:txBody>
      </p:sp>
      <p:sp>
        <p:nvSpPr>
          <p:cNvPr id="7" name="Shape 5"/>
          <p:cNvSpPr/>
          <p:nvPr/>
        </p:nvSpPr>
        <p:spPr>
          <a:xfrm>
            <a:off x="2148840" y="2057400"/>
            <a:ext cx="1280160" cy="640080"/>
          </a:xfrm>
          <a:prstGeom prst="roundRect">
            <a:avLst>
              <a:gd name="adj" fmla="val 8571"/>
            </a:avLst>
          </a:prstGeom>
          <a:solidFill>
            <a:srgbClr val="FFFFFF"/>
          </a:solidFill>
          <a:ln w="12700">
            <a:solidFill>
              <a:srgbClr val="1F4E8C"/>
            </a:solidFill>
            <a:prstDash val="solid"/>
          </a:ln>
        </p:spPr>
      </p:sp>
      <p:sp>
        <p:nvSpPr>
          <p:cNvPr id="8" name="Text 6"/>
          <p:cNvSpPr txBox="1"/>
          <p:nvPr/>
        </p:nvSpPr>
        <p:spPr>
          <a:xfrm>
            <a:off x="2148840" y="2057400"/>
            <a:ext cx="1280160" cy="640080"/>
          </a:xfrm>
          <a:prstGeom prst="rect">
            <a:avLst/>
          </a:prstGeom>
          <a:noFill/>
          <a:ln/>
        </p:spPr>
        <p:txBody>
          <a:bodyPr wrap="square" lIns="0" tIns="0" rIns="0" bIns="0" rtlCol="0" anchor="ctr"/>
          <a:lstStyle/>
          <a:p>
            <a:pPr algn="ctr" indent="0" marL="0">
              <a:buNone/>
            </a:pPr>
            <a:r>
              <a:rPr lang="en-US" sz="1200" b="1" dirty="0">
                <a:solidFill>
                  <a:srgbClr val="14253D"/>
                </a:solidFill>
                <a:latin typeface="Calibri" pitchFamily="34" charset="0"/>
                <a:ea typeface="Calibri" pitchFamily="34" charset="-122"/>
                <a:cs typeface="Calibri" pitchFamily="34" charset="-120"/>
              </a:rPr>
              <a:t>Pipeline y gates</a:t>
            </a:r>
            <a:endParaRPr lang="en-US" sz="1200" dirty="0"/>
          </a:p>
        </p:txBody>
      </p:sp>
      <p:sp>
        <p:nvSpPr>
          <p:cNvPr id="9" name="Shape 7"/>
          <p:cNvSpPr/>
          <p:nvPr/>
        </p:nvSpPr>
        <p:spPr>
          <a:xfrm>
            <a:off x="3520440" y="2057400"/>
            <a:ext cx="1280160" cy="640080"/>
          </a:xfrm>
          <a:prstGeom prst="roundRect">
            <a:avLst>
              <a:gd name="adj" fmla="val 8571"/>
            </a:avLst>
          </a:prstGeom>
          <a:solidFill>
            <a:srgbClr val="FFFFFF"/>
          </a:solidFill>
          <a:ln w="12700">
            <a:solidFill>
              <a:srgbClr val="1F4E8C"/>
            </a:solidFill>
            <a:prstDash val="solid"/>
          </a:ln>
        </p:spPr>
      </p:sp>
      <p:sp>
        <p:nvSpPr>
          <p:cNvPr id="10" name="Text 8"/>
          <p:cNvSpPr txBox="1"/>
          <p:nvPr/>
        </p:nvSpPr>
        <p:spPr>
          <a:xfrm>
            <a:off x="3520440" y="2057400"/>
            <a:ext cx="1280160" cy="640080"/>
          </a:xfrm>
          <a:prstGeom prst="rect">
            <a:avLst/>
          </a:prstGeom>
          <a:noFill/>
          <a:ln/>
        </p:spPr>
        <p:txBody>
          <a:bodyPr wrap="square" lIns="0" tIns="0" rIns="0" bIns="0" rtlCol="0" anchor="ctr"/>
          <a:lstStyle/>
          <a:p>
            <a:pPr algn="ctr" indent="0" marL="0">
              <a:buNone/>
            </a:pPr>
            <a:r>
              <a:rPr lang="en-US" sz="1200" b="1" dirty="0">
                <a:solidFill>
                  <a:srgbClr val="14253D"/>
                </a:solidFill>
                <a:latin typeface="Calibri" pitchFamily="34" charset="0"/>
                <a:ea typeface="Calibri" pitchFamily="34" charset="-122"/>
                <a:cs typeface="Calibri" pitchFamily="34" charset="-120"/>
              </a:rPr>
              <a:t>Evaluación</a:t>
            </a:r>
            <a:endParaRPr lang="en-US" sz="1200" dirty="0"/>
          </a:p>
        </p:txBody>
      </p:sp>
      <p:sp>
        <p:nvSpPr>
          <p:cNvPr id="11" name="Shape 9"/>
          <p:cNvSpPr/>
          <p:nvPr/>
        </p:nvSpPr>
        <p:spPr>
          <a:xfrm>
            <a:off x="4892040" y="2057400"/>
            <a:ext cx="1280160" cy="640080"/>
          </a:xfrm>
          <a:prstGeom prst="roundRect">
            <a:avLst>
              <a:gd name="adj" fmla="val 8571"/>
            </a:avLst>
          </a:prstGeom>
          <a:solidFill>
            <a:srgbClr val="FFFFFF"/>
          </a:solidFill>
          <a:ln w="12700">
            <a:solidFill>
              <a:srgbClr val="1F4E8C"/>
            </a:solidFill>
            <a:prstDash val="solid"/>
          </a:ln>
        </p:spPr>
      </p:sp>
      <p:sp>
        <p:nvSpPr>
          <p:cNvPr id="12" name="Text 10"/>
          <p:cNvSpPr txBox="1"/>
          <p:nvPr/>
        </p:nvSpPr>
        <p:spPr>
          <a:xfrm>
            <a:off x="4892040" y="2057400"/>
            <a:ext cx="1280160" cy="640080"/>
          </a:xfrm>
          <a:prstGeom prst="rect">
            <a:avLst/>
          </a:prstGeom>
          <a:noFill/>
          <a:ln/>
        </p:spPr>
        <p:txBody>
          <a:bodyPr wrap="square" lIns="0" tIns="0" rIns="0" bIns="0" rtlCol="0" anchor="ctr"/>
          <a:lstStyle/>
          <a:p>
            <a:pPr algn="ctr" indent="0" marL="0">
              <a:buNone/>
            </a:pPr>
            <a:r>
              <a:rPr lang="en-US" sz="1200" b="1" dirty="0">
                <a:solidFill>
                  <a:srgbClr val="14253D"/>
                </a:solidFill>
                <a:latin typeface="Calibri" pitchFamily="34" charset="0"/>
                <a:ea typeface="Calibri" pitchFamily="34" charset="-122"/>
                <a:cs typeface="Calibri" pitchFamily="34" charset="-120"/>
              </a:rPr>
              <a:t>Evidencia</a:t>
            </a:r>
            <a:endParaRPr lang="en-US" sz="1200" dirty="0"/>
          </a:p>
        </p:txBody>
      </p:sp>
      <p:sp>
        <p:nvSpPr>
          <p:cNvPr id="13" name="Shape 11"/>
          <p:cNvSpPr/>
          <p:nvPr/>
        </p:nvSpPr>
        <p:spPr>
          <a:xfrm>
            <a:off x="777240" y="2926080"/>
            <a:ext cx="5303520" cy="2651760"/>
          </a:xfrm>
          <a:prstGeom prst="roundRect">
            <a:avLst>
              <a:gd name="adj" fmla="val 2759"/>
            </a:avLst>
          </a:prstGeom>
          <a:solidFill>
            <a:srgbClr val="FFFFFF"/>
          </a:solidFill>
          <a:ln w="9525">
            <a:solidFill>
              <a:srgbClr val="D9DEE5"/>
            </a:solidFill>
            <a:prstDash val="solid"/>
          </a:ln>
        </p:spPr>
      </p:sp>
      <p:sp>
        <p:nvSpPr>
          <p:cNvPr id="14" name="Text 12"/>
          <p:cNvSpPr txBox="1"/>
          <p:nvPr/>
        </p:nvSpPr>
        <p:spPr>
          <a:xfrm>
            <a:off x="1005840" y="3035808"/>
            <a:ext cx="4846320" cy="274320"/>
          </a:xfrm>
          <a:prstGeom prst="rect">
            <a:avLst/>
          </a:prstGeom>
          <a:noFill/>
          <a:ln/>
        </p:spPr>
        <p:txBody>
          <a:bodyPr wrap="square" lIns="0" tIns="0" rIns="0" bIns="0" rtlCol="0" anchor="t"/>
          <a:lstStyle/>
          <a:p>
            <a:pPr indent="0" marL="0">
              <a:buNone/>
            </a:pPr>
            <a:r>
              <a:rPr lang="en-US" sz="1200" b="1" dirty="0">
                <a:solidFill>
                  <a:srgbClr val="5B6776"/>
                </a:solidFill>
                <a:latin typeface="Calibri" pitchFamily="34" charset="0"/>
                <a:ea typeface="Calibri" pitchFamily="34" charset="-122"/>
                <a:cs typeface="Calibri" pitchFamily="34" charset="-120"/>
              </a:rPr>
              <a:t>UNA CÉLULA (5 personas, sin plazas nuevas)</a:t>
            </a:r>
            <a:endParaRPr lang="en-US" sz="1200" dirty="0"/>
          </a:p>
        </p:txBody>
      </p:sp>
      <p:sp>
        <p:nvSpPr>
          <p:cNvPr id="15" name="Shape 13"/>
          <p:cNvSpPr/>
          <p:nvPr/>
        </p:nvSpPr>
        <p:spPr>
          <a:xfrm>
            <a:off x="1005840" y="3429000"/>
            <a:ext cx="2377440" cy="914400"/>
          </a:xfrm>
          <a:prstGeom prst="roundRect">
            <a:avLst>
              <a:gd name="adj" fmla="val 6000"/>
            </a:avLst>
          </a:prstGeom>
          <a:solidFill>
            <a:srgbClr val="F4F6F8"/>
          </a:solidFill>
          <a:ln w="9525">
            <a:solidFill>
              <a:srgbClr val="D9DEE5"/>
            </a:solidFill>
            <a:prstDash val="solid"/>
          </a:ln>
        </p:spPr>
      </p:sp>
      <p:sp>
        <p:nvSpPr>
          <p:cNvPr id="16" name="Text 14"/>
          <p:cNvSpPr txBox="1"/>
          <p:nvPr/>
        </p:nvSpPr>
        <p:spPr>
          <a:xfrm>
            <a:off x="1143000" y="3538728"/>
            <a:ext cx="2103120" cy="274320"/>
          </a:xfrm>
          <a:prstGeom prst="rect">
            <a:avLst/>
          </a:prstGeom>
          <a:noFill/>
          <a:ln/>
        </p:spPr>
        <p:txBody>
          <a:bodyPr wrap="square" lIns="0" tIns="0" rIns="0" bIns="0" rtlCol="0" anchor="t"/>
          <a:lstStyle/>
          <a:p>
            <a:pPr indent="0" marL="0">
              <a:buNone/>
            </a:pPr>
            <a:r>
              <a:rPr lang="en-US" sz="1400" b="1" dirty="0">
                <a:solidFill>
                  <a:srgbClr val="14253D"/>
                </a:solidFill>
                <a:latin typeface="Calibri" pitchFamily="34" charset="0"/>
                <a:ea typeface="Calibri" pitchFamily="34" charset="-122"/>
                <a:cs typeface="Calibri" pitchFamily="34" charset="-120"/>
              </a:rPr>
              <a:t>Scrum Master</a:t>
            </a:r>
            <a:endParaRPr lang="en-US" sz="1400" dirty="0"/>
          </a:p>
        </p:txBody>
      </p:sp>
      <p:sp>
        <p:nvSpPr>
          <p:cNvPr id="17" name="Text 15"/>
          <p:cNvSpPr txBox="1"/>
          <p:nvPr/>
        </p:nvSpPr>
        <p:spPr>
          <a:xfrm>
            <a:off x="1143000" y="3886200"/>
            <a:ext cx="2103120" cy="365760"/>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gestiona el flujo y el WIP</a:t>
            </a:r>
            <a:endParaRPr lang="en-US" sz="1200" dirty="0"/>
          </a:p>
        </p:txBody>
      </p:sp>
      <p:sp>
        <p:nvSpPr>
          <p:cNvPr id="18" name="Shape 16"/>
          <p:cNvSpPr/>
          <p:nvPr/>
        </p:nvSpPr>
        <p:spPr>
          <a:xfrm>
            <a:off x="3520440" y="3429000"/>
            <a:ext cx="2377440" cy="914400"/>
          </a:xfrm>
          <a:prstGeom prst="roundRect">
            <a:avLst>
              <a:gd name="adj" fmla="val 6000"/>
            </a:avLst>
          </a:prstGeom>
          <a:solidFill>
            <a:srgbClr val="F4F6F8"/>
          </a:solidFill>
          <a:ln w="9525">
            <a:solidFill>
              <a:srgbClr val="D9DEE5"/>
            </a:solidFill>
            <a:prstDash val="solid"/>
          </a:ln>
        </p:spPr>
      </p:sp>
      <p:sp>
        <p:nvSpPr>
          <p:cNvPr id="19" name="Text 17"/>
          <p:cNvSpPr txBox="1"/>
          <p:nvPr/>
        </p:nvSpPr>
        <p:spPr>
          <a:xfrm>
            <a:off x="3657600" y="3538728"/>
            <a:ext cx="2103120" cy="274320"/>
          </a:xfrm>
          <a:prstGeom prst="rect">
            <a:avLst/>
          </a:prstGeom>
          <a:noFill/>
          <a:ln/>
        </p:spPr>
        <p:txBody>
          <a:bodyPr wrap="square" lIns="0" tIns="0" rIns="0" bIns="0" rtlCol="0" anchor="t"/>
          <a:lstStyle/>
          <a:p>
            <a:pPr indent="0" marL="0">
              <a:buNone/>
            </a:pPr>
            <a:r>
              <a:rPr lang="en-US" sz="1400" b="1" dirty="0">
                <a:solidFill>
                  <a:srgbClr val="14253D"/>
                </a:solidFill>
                <a:latin typeface="Calibri" pitchFamily="34" charset="0"/>
                <a:ea typeface="Calibri" pitchFamily="34" charset="-122"/>
                <a:cs typeface="Calibri" pitchFamily="34" charset="-120"/>
              </a:rPr>
              <a:t>Líder técnico</a:t>
            </a:r>
            <a:endParaRPr lang="en-US" sz="1400" dirty="0"/>
          </a:p>
        </p:txBody>
      </p:sp>
      <p:sp>
        <p:nvSpPr>
          <p:cNvPr id="20" name="Text 18"/>
          <p:cNvSpPr txBox="1"/>
          <p:nvPr/>
        </p:nvSpPr>
        <p:spPr>
          <a:xfrm>
            <a:off x="3657600" y="3886200"/>
            <a:ext cx="2103120" cy="365760"/>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revisa; no documenta a mano</a:t>
            </a:r>
            <a:endParaRPr lang="en-US" sz="1200" dirty="0"/>
          </a:p>
        </p:txBody>
      </p:sp>
      <p:sp>
        <p:nvSpPr>
          <p:cNvPr id="21" name="Shape 19"/>
          <p:cNvSpPr/>
          <p:nvPr/>
        </p:nvSpPr>
        <p:spPr>
          <a:xfrm>
            <a:off x="1005840" y="4480560"/>
            <a:ext cx="2377440" cy="914400"/>
          </a:xfrm>
          <a:prstGeom prst="roundRect">
            <a:avLst>
              <a:gd name="adj" fmla="val 6000"/>
            </a:avLst>
          </a:prstGeom>
          <a:solidFill>
            <a:srgbClr val="F4F6F8"/>
          </a:solidFill>
          <a:ln w="9525">
            <a:solidFill>
              <a:srgbClr val="D9DEE5"/>
            </a:solidFill>
            <a:prstDash val="solid"/>
          </a:ln>
        </p:spPr>
      </p:sp>
      <p:sp>
        <p:nvSpPr>
          <p:cNvPr id="22" name="Text 20"/>
          <p:cNvSpPr txBox="1"/>
          <p:nvPr/>
        </p:nvSpPr>
        <p:spPr>
          <a:xfrm>
            <a:off x="1143000" y="4590288"/>
            <a:ext cx="2103120" cy="274320"/>
          </a:xfrm>
          <a:prstGeom prst="rect">
            <a:avLst/>
          </a:prstGeom>
          <a:noFill/>
          <a:ln/>
        </p:spPr>
        <p:txBody>
          <a:bodyPr wrap="square" lIns="0" tIns="0" rIns="0" bIns="0" rtlCol="0" anchor="t"/>
          <a:lstStyle/>
          <a:p>
            <a:pPr indent="0" marL="0">
              <a:buNone/>
            </a:pPr>
            <a:r>
              <a:rPr lang="en-US" sz="1400" b="1" dirty="0">
                <a:solidFill>
                  <a:srgbClr val="14253D"/>
                </a:solidFill>
                <a:latin typeface="Calibri" pitchFamily="34" charset="0"/>
                <a:ea typeface="Calibri" pitchFamily="34" charset="-122"/>
                <a:cs typeface="Calibri" pitchFamily="34" charset="-120"/>
              </a:rPr>
              <a:t>2 Desarrolladores</a:t>
            </a:r>
            <a:endParaRPr lang="en-US" sz="1400" dirty="0"/>
          </a:p>
        </p:txBody>
      </p:sp>
      <p:sp>
        <p:nvSpPr>
          <p:cNvPr id="23" name="Text 21"/>
          <p:cNvSpPr txBox="1"/>
          <p:nvPr/>
        </p:nvSpPr>
        <p:spPr>
          <a:xfrm>
            <a:off x="1143000" y="4937760"/>
            <a:ext cx="2103120" cy="365760"/>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ingeniería asistida</a:t>
            </a:r>
            <a:endParaRPr lang="en-US" sz="1200" dirty="0"/>
          </a:p>
        </p:txBody>
      </p:sp>
      <p:sp>
        <p:nvSpPr>
          <p:cNvPr id="24" name="Shape 22"/>
          <p:cNvSpPr/>
          <p:nvPr/>
        </p:nvSpPr>
        <p:spPr>
          <a:xfrm>
            <a:off x="3520440" y="4480560"/>
            <a:ext cx="2377440" cy="914400"/>
          </a:xfrm>
          <a:prstGeom prst="roundRect">
            <a:avLst>
              <a:gd name="adj" fmla="val 6000"/>
            </a:avLst>
          </a:prstGeom>
          <a:solidFill>
            <a:srgbClr val="F4F6F8"/>
          </a:solidFill>
          <a:ln w="9525">
            <a:solidFill>
              <a:srgbClr val="D9DEE5"/>
            </a:solidFill>
            <a:prstDash val="solid"/>
          </a:ln>
        </p:spPr>
      </p:sp>
      <p:sp>
        <p:nvSpPr>
          <p:cNvPr id="25" name="Text 23"/>
          <p:cNvSpPr txBox="1"/>
          <p:nvPr/>
        </p:nvSpPr>
        <p:spPr>
          <a:xfrm>
            <a:off x="3657600" y="4590288"/>
            <a:ext cx="2103120" cy="274320"/>
          </a:xfrm>
          <a:prstGeom prst="rect">
            <a:avLst/>
          </a:prstGeom>
          <a:noFill/>
          <a:ln/>
        </p:spPr>
        <p:txBody>
          <a:bodyPr wrap="square" lIns="0" tIns="0" rIns="0" bIns="0" rtlCol="0" anchor="t"/>
          <a:lstStyle/>
          <a:p>
            <a:pPr indent="0" marL="0">
              <a:buNone/>
            </a:pPr>
            <a:r>
              <a:rPr lang="en-US" sz="1400" b="1" dirty="0">
                <a:solidFill>
                  <a:srgbClr val="14253D"/>
                </a:solidFill>
                <a:latin typeface="Calibri" pitchFamily="34" charset="0"/>
                <a:ea typeface="Calibri" pitchFamily="34" charset="-122"/>
                <a:cs typeface="Calibri" pitchFamily="34" charset="-120"/>
              </a:rPr>
              <a:t>QA</a:t>
            </a:r>
            <a:endParaRPr lang="en-US" sz="1400" dirty="0"/>
          </a:p>
        </p:txBody>
      </p:sp>
      <p:sp>
        <p:nvSpPr>
          <p:cNvPr id="26" name="Text 24"/>
          <p:cNvSpPr txBox="1"/>
          <p:nvPr/>
        </p:nvSpPr>
        <p:spPr>
          <a:xfrm>
            <a:off x="3657600" y="4937760"/>
            <a:ext cx="2103120" cy="365760"/>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ingeniería de calidad</a:t>
            </a:r>
            <a:endParaRPr lang="en-US" sz="1200" dirty="0"/>
          </a:p>
        </p:txBody>
      </p:sp>
      <p:sp>
        <p:nvSpPr>
          <p:cNvPr id="27" name="Text 25"/>
          <p:cNvSpPr txBox="1"/>
          <p:nvPr/>
        </p:nvSpPr>
        <p:spPr>
          <a:xfrm>
            <a:off x="6583680" y="1645920"/>
            <a:ext cx="5029200" cy="35661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Platform &amp; Enablement: 3–4 personas internas reasignadas, repuestas con proveedores; un AI Champion (≈20%) por célula.</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Proveedores: de horas a resultados, sobre estándares de la compañía; documentación y transferencia como entregable.</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Interno: arquitectura, seguridad, gobierno de IA, dominio crítico y aprobación de cambios.</a:t>
            </a:r>
            <a:endParaRPr lang="en-US" sz="1600" dirty="0"/>
          </a:p>
          <a:p>
            <a:pPr marL="203200" indent="-203200">
              <a:spcAft>
                <a:spcPts val="800"/>
              </a:spcAft>
              <a:buSzPct val="100000"/>
              <a:buChar char="•"/>
            </a:pPr>
            <a:r>
              <a:rPr lang="en-US" sz="1600" dirty="0">
                <a:solidFill>
                  <a:srgbClr val="1B2430"/>
                </a:solidFill>
                <a:latin typeface="Calibri" pitchFamily="34" charset="0"/>
                <a:ea typeface="Calibri" pitchFamily="34" charset="-122"/>
                <a:cs typeface="Calibri" pitchFamily="34" charset="-120"/>
              </a:rPr>
              <a:t>Capacidad, no reemplazo: nadie sale por esta iniciativa.</a:t>
            </a:r>
            <a:endParaRPr lang="en-US" sz="1600" dirty="0"/>
          </a:p>
        </p:txBody>
      </p:sp>
      <p:sp>
        <p:nvSpPr>
          <p:cNvPr id="28" name="Text 26"/>
          <p:cNvSpPr txBox="1"/>
          <p:nvPr/>
        </p:nvSpPr>
        <p:spPr>
          <a:xfrm>
            <a:off x="6583680" y="5257800"/>
            <a:ext cx="5029200" cy="45720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WIP 8 → 6  ·  Pruebas automatizadas 10% → 60%+</a:t>
            </a:r>
            <a:endParaRPr lang="en-US" sz="1400" dirty="0"/>
          </a:p>
        </p:txBody>
      </p:sp>
      <p:sp>
        <p:nvSpPr>
          <p:cNvPr id="29" name="Text 27"/>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Ciclo AI-First: IA en todo el flujo y un control en cada paso</a:t>
            </a:r>
            <a:endParaRPr lang="en-US" sz="3200" dirty="0"/>
          </a:p>
        </p:txBody>
      </p:sp>
      <p:sp>
        <p:nvSpPr>
          <p:cNvPr id="3" name="Shape 1"/>
          <p:cNvSpPr/>
          <p:nvPr/>
        </p:nvSpPr>
        <p:spPr>
          <a:xfrm>
            <a:off x="548640" y="1600200"/>
            <a:ext cx="1691640" cy="1143000"/>
          </a:xfrm>
          <a:prstGeom prst="roundRect">
            <a:avLst>
              <a:gd name="adj" fmla="val 6400"/>
            </a:avLst>
          </a:prstGeom>
          <a:solidFill>
            <a:srgbClr val="DCE8F7"/>
          </a:solidFill>
          <a:ln w="9525">
            <a:solidFill>
              <a:srgbClr val="1F4E8C"/>
            </a:solidFill>
            <a:prstDash val="solid"/>
          </a:ln>
        </p:spPr>
      </p:sp>
      <p:sp>
        <p:nvSpPr>
          <p:cNvPr id="4" name="Text 2"/>
          <p:cNvSpPr txBox="1"/>
          <p:nvPr/>
        </p:nvSpPr>
        <p:spPr>
          <a:xfrm>
            <a:off x="640080" y="1664208"/>
            <a:ext cx="1508760" cy="502920"/>
          </a:xfrm>
          <a:prstGeom prst="rect">
            <a:avLst/>
          </a:prstGeom>
          <a:noFill/>
          <a:ln/>
        </p:spPr>
        <p:txBody>
          <a:bodyPr wrap="square" lIns="0" tIns="0" rIns="0" bIns="0" rtlCol="0" anchor="ctr"/>
          <a:lstStyle/>
          <a:p>
            <a:pPr algn="ctr" indent="0" marL="0">
              <a:buNone/>
            </a:pPr>
            <a:r>
              <a:rPr lang="en-US" sz="1300" b="1" dirty="0">
                <a:solidFill>
                  <a:srgbClr val="14253D"/>
                </a:solidFill>
                <a:latin typeface="Calibri" pitchFamily="34" charset="0"/>
                <a:ea typeface="Calibri" pitchFamily="34" charset="-122"/>
                <a:cs typeface="Calibri" pitchFamily="34" charset="-120"/>
              </a:rPr>
              <a:t>Definition of Ready</a:t>
            </a:r>
            <a:endParaRPr lang="en-US" sz="1300" dirty="0"/>
          </a:p>
        </p:txBody>
      </p:sp>
      <p:sp>
        <p:nvSpPr>
          <p:cNvPr id="5" name="Text 3"/>
          <p:cNvSpPr txBox="1"/>
          <p:nvPr/>
        </p:nvSpPr>
        <p:spPr>
          <a:xfrm>
            <a:off x="640080" y="2212848"/>
            <a:ext cx="1508760" cy="502920"/>
          </a:xfrm>
          <a:prstGeom prst="rect">
            <a:avLst/>
          </a:prstGeom>
          <a:noFill/>
          <a:ln/>
        </p:spPr>
        <p:txBody>
          <a:bodyPr wrap="square" lIns="0" tIns="0" rIns="0" bIns="0" rtlCol="0" anchor="t"/>
          <a:lstStyle/>
          <a:p>
            <a:pPr algn="ctr" indent="0" marL="0">
              <a:buNone/>
            </a:pPr>
            <a:r>
              <a:rPr lang="en-US" sz="1100" dirty="0">
                <a:solidFill>
                  <a:srgbClr val="5B6776"/>
                </a:solidFill>
                <a:latin typeface="Calibri" pitchFamily="34" charset="0"/>
                <a:ea typeface="Calibri" pitchFamily="34" charset="-122"/>
                <a:cs typeface="Calibri" pitchFamily="34" charset="-120"/>
              </a:rPr>
              <a:t>score ≥ 75 y análisis vigente</a:t>
            </a:r>
            <a:endParaRPr lang="en-US" sz="1100" dirty="0"/>
          </a:p>
        </p:txBody>
      </p:sp>
      <p:sp>
        <p:nvSpPr>
          <p:cNvPr id="6" name="Text 4"/>
          <p:cNvSpPr txBox="1"/>
          <p:nvPr/>
        </p:nvSpPr>
        <p:spPr>
          <a:xfrm>
            <a:off x="2221992" y="1874520"/>
            <a:ext cx="219456" cy="548640"/>
          </a:xfrm>
          <a:prstGeom prst="rect">
            <a:avLst/>
          </a:prstGeom>
          <a:noFill/>
          <a:ln/>
        </p:spPr>
        <p:txBody>
          <a:bodyPr wrap="square" lIns="0" tIns="0" rIns="0" bIns="0" rtlCol="0" anchor="ctr"/>
          <a:lstStyle/>
          <a:p>
            <a:pPr algn="ctr" indent="0" marL="0">
              <a:buNone/>
            </a:pPr>
            <a:r>
              <a:rPr lang="en-US" sz="2400" b="1" dirty="0">
                <a:solidFill>
                  <a:srgbClr val="1F4E8C"/>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2423160" y="1600200"/>
            <a:ext cx="1691640" cy="1143000"/>
          </a:xfrm>
          <a:prstGeom prst="roundRect">
            <a:avLst>
              <a:gd name="adj" fmla="val 6400"/>
            </a:avLst>
          </a:prstGeom>
          <a:solidFill>
            <a:srgbClr val="DCE8F7"/>
          </a:solidFill>
          <a:ln w="9525">
            <a:solidFill>
              <a:srgbClr val="1F4E8C"/>
            </a:solidFill>
            <a:prstDash val="solid"/>
          </a:ln>
        </p:spPr>
      </p:sp>
      <p:sp>
        <p:nvSpPr>
          <p:cNvPr id="8" name="Text 6"/>
          <p:cNvSpPr txBox="1"/>
          <p:nvPr/>
        </p:nvSpPr>
        <p:spPr>
          <a:xfrm>
            <a:off x="2514600" y="1664208"/>
            <a:ext cx="1508760" cy="502920"/>
          </a:xfrm>
          <a:prstGeom prst="rect">
            <a:avLst/>
          </a:prstGeom>
          <a:noFill/>
          <a:ln/>
        </p:spPr>
        <p:txBody>
          <a:bodyPr wrap="square" lIns="0" tIns="0" rIns="0" bIns="0" rtlCol="0" anchor="ctr"/>
          <a:lstStyle/>
          <a:p>
            <a:pPr algn="ctr" indent="0" marL="0">
              <a:buNone/>
            </a:pPr>
            <a:r>
              <a:rPr lang="en-US" sz="1300" b="1" dirty="0">
                <a:solidFill>
                  <a:srgbClr val="14253D"/>
                </a:solidFill>
                <a:latin typeface="Calibri" pitchFamily="34" charset="0"/>
                <a:ea typeface="Calibri" pitchFamily="34" charset="-122"/>
                <a:cs typeface="Calibri" pitchFamily="34" charset="-120"/>
              </a:rPr>
              <a:t>AI Readiness</a:t>
            </a:r>
            <a:endParaRPr lang="en-US" sz="1300" dirty="0"/>
          </a:p>
        </p:txBody>
      </p:sp>
      <p:sp>
        <p:nvSpPr>
          <p:cNvPr id="9" name="Text 7"/>
          <p:cNvSpPr txBox="1"/>
          <p:nvPr/>
        </p:nvSpPr>
        <p:spPr>
          <a:xfrm>
            <a:off x="2514600" y="2212848"/>
            <a:ext cx="1508760" cy="502920"/>
          </a:xfrm>
          <a:prstGeom prst="rect">
            <a:avLst/>
          </a:prstGeom>
          <a:noFill/>
          <a:ln/>
        </p:spPr>
        <p:txBody>
          <a:bodyPr wrap="square" lIns="0" tIns="0" rIns="0" bIns="0" rtlCol="0" anchor="t"/>
          <a:lstStyle/>
          <a:p>
            <a:pPr algn="ctr" indent="0" marL="0">
              <a:buNone/>
            </a:pPr>
            <a:r>
              <a:rPr lang="en-US" sz="1100" dirty="0">
                <a:solidFill>
                  <a:srgbClr val="5B6776"/>
                </a:solidFill>
                <a:latin typeface="Calibri" pitchFamily="34" charset="0"/>
                <a:ea typeface="Calibri" pitchFamily="34" charset="-122"/>
                <a:cs typeface="Calibri" pitchFamily="34" charset="-120"/>
              </a:rPr>
              <a:t>política estática antes de ejecutar</a:t>
            </a:r>
            <a:endParaRPr lang="en-US" sz="1100" dirty="0"/>
          </a:p>
        </p:txBody>
      </p:sp>
      <p:sp>
        <p:nvSpPr>
          <p:cNvPr id="10" name="Text 8"/>
          <p:cNvSpPr txBox="1"/>
          <p:nvPr/>
        </p:nvSpPr>
        <p:spPr>
          <a:xfrm>
            <a:off x="4096512" y="1874520"/>
            <a:ext cx="219456" cy="548640"/>
          </a:xfrm>
          <a:prstGeom prst="rect">
            <a:avLst/>
          </a:prstGeom>
          <a:noFill/>
          <a:ln/>
        </p:spPr>
        <p:txBody>
          <a:bodyPr wrap="square" lIns="0" tIns="0" rIns="0" bIns="0" rtlCol="0" anchor="ctr"/>
          <a:lstStyle/>
          <a:p>
            <a:pPr algn="ctr" indent="0" marL="0">
              <a:buNone/>
            </a:pPr>
            <a:r>
              <a:rPr lang="en-US" sz="2400" b="1" dirty="0">
                <a:solidFill>
                  <a:srgbClr val="1F4E8C"/>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4297680" y="1600200"/>
            <a:ext cx="1691640" cy="1143000"/>
          </a:xfrm>
          <a:prstGeom prst="roundRect">
            <a:avLst>
              <a:gd name="adj" fmla="val 6400"/>
            </a:avLst>
          </a:prstGeom>
          <a:solidFill>
            <a:srgbClr val="DCE8F7"/>
          </a:solidFill>
          <a:ln w="9525">
            <a:solidFill>
              <a:srgbClr val="1F4E8C"/>
            </a:solidFill>
            <a:prstDash val="solid"/>
          </a:ln>
        </p:spPr>
      </p:sp>
      <p:sp>
        <p:nvSpPr>
          <p:cNvPr id="12" name="Text 10"/>
          <p:cNvSpPr txBox="1"/>
          <p:nvPr/>
        </p:nvSpPr>
        <p:spPr>
          <a:xfrm>
            <a:off x="4389120" y="1664208"/>
            <a:ext cx="1508760" cy="502920"/>
          </a:xfrm>
          <a:prstGeom prst="rect">
            <a:avLst/>
          </a:prstGeom>
          <a:noFill/>
          <a:ln/>
        </p:spPr>
        <p:txBody>
          <a:bodyPr wrap="square" lIns="0" tIns="0" rIns="0" bIns="0" rtlCol="0" anchor="ctr"/>
          <a:lstStyle/>
          <a:p>
            <a:pPr algn="ctr" indent="0" marL="0">
              <a:buNone/>
            </a:pPr>
            <a:r>
              <a:rPr lang="en-US" sz="1300" b="1" dirty="0">
                <a:solidFill>
                  <a:srgbClr val="14253D"/>
                </a:solidFill>
                <a:latin typeface="Calibri" pitchFamily="34" charset="0"/>
                <a:ea typeface="Calibri" pitchFamily="34" charset="-122"/>
                <a:cs typeface="Calibri" pitchFamily="34" charset="-120"/>
              </a:rPr>
              <a:t>Quality</a:t>
            </a:r>
            <a:endParaRPr lang="en-US" sz="1300" dirty="0"/>
          </a:p>
        </p:txBody>
      </p:sp>
      <p:sp>
        <p:nvSpPr>
          <p:cNvPr id="13" name="Text 11"/>
          <p:cNvSpPr txBox="1"/>
          <p:nvPr/>
        </p:nvSpPr>
        <p:spPr>
          <a:xfrm>
            <a:off x="4389120" y="2212848"/>
            <a:ext cx="1508760" cy="502920"/>
          </a:xfrm>
          <a:prstGeom prst="rect">
            <a:avLst/>
          </a:prstGeom>
          <a:noFill/>
          <a:ln/>
        </p:spPr>
        <p:txBody>
          <a:bodyPr wrap="square" lIns="0" tIns="0" rIns="0" bIns="0" rtlCol="0" anchor="t"/>
          <a:lstStyle/>
          <a:p>
            <a:pPr algn="ctr" indent="0" marL="0">
              <a:buNone/>
            </a:pPr>
            <a:r>
              <a:rPr lang="en-US" sz="1100" dirty="0">
                <a:solidFill>
                  <a:srgbClr val="5B6776"/>
                </a:solidFill>
                <a:latin typeface="Calibri" pitchFamily="34" charset="0"/>
                <a:ea typeface="Calibri" pitchFamily="34" charset="-122"/>
                <a:cs typeface="Calibri" pitchFamily="34" charset="-120"/>
              </a:rPr>
              <a:t>pruebas contra el contrato</a:t>
            </a:r>
            <a:endParaRPr lang="en-US" sz="1100" dirty="0"/>
          </a:p>
        </p:txBody>
      </p:sp>
      <p:sp>
        <p:nvSpPr>
          <p:cNvPr id="14" name="Text 12"/>
          <p:cNvSpPr txBox="1"/>
          <p:nvPr/>
        </p:nvSpPr>
        <p:spPr>
          <a:xfrm>
            <a:off x="5971032" y="1874520"/>
            <a:ext cx="219456" cy="548640"/>
          </a:xfrm>
          <a:prstGeom prst="rect">
            <a:avLst/>
          </a:prstGeom>
          <a:noFill/>
          <a:ln/>
        </p:spPr>
        <p:txBody>
          <a:bodyPr wrap="square" lIns="0" tIns="0" rIns="0" bIns="0" rtlCol="0" anchor="ctr"/>
          <a:lstStyle/>
          <a:p>
            <a:pPr algn="ctr" indent="0" marL="0">
              <a:buNone/>
            </a:pPr>
            <a:r>
              <a:rPr lang="en-US" sz="2400" b="1" dirty="0">
                <a:solidFill>
                  <a:srgbClr val="1F4E8C"/>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6172200" y="1600200"/>
            <a:ext cx="1691640" cy="1143000"/>
          </a:xfrm>
          <a:prstGeom prst="roundRect">
            <a:avLst>
              <a:gd name="adj" fmla="val 6400"/>
            </a:avLst>
          </a:prstGeom>
          <a:solidFill>
            <a:srgbClr val="DCE8F7"/>
          </a:solidFill>
          <a:ln w="9525">
            <a:solidFill>
              <a:srgbClr val="1F4E8C"/>
            </a:solidFill>
            <a:prstDash val="solid"/>
          </a:ln>
        </p:spPr>
      </p:sp>
      <p:sp>
        <p:nvSpPr>
          <p:cNvPr id="16" name="Text 14"/>
          <p:cNvSpPr txBox="1"/>
          <p:nvPr/>
        </p:nvSpPr>
        <p:spPr>
          <a:xfrm>
            <a:off x="6263640" y="1664208"/>
            <a:ext cx="1508760" cy="502920"/>
          </a:xfrm>
          <a:prstGeom prst="rect">
            <a:avLst/>
          </a:prstGeom>
          <a:noFill/>
          <a:ln/>
        </p:spPr>
        <p:txBody>
          <a:bodyPr wrap="square" lIns="0" tIns="0" rIns="0" bIns="0" rtlCol="0" anchor="ctr"/>
          <a:lstStyle/>
          <a:p>
            <a:pPr algn="ctr" indent="0" marL="0">
              <a:buNone/>
            </a:pPr>
            <a:r>
              <a:rPr lang="en-US" sz="1300" b="1" dirty="0">
                <a:solidFill>
                  <a:srgbClr val="14253D"/>
                </a:solidFill>
                <a:latin typeface="Calibri" pitchFamily="34" charset="0"/>
                <a:ea typeface="Calibri" pitchFamily="34" charset="-122"/>
                <a:cs typeface="Calibri" pitchFamily="34" charset="-120"/>
              </a:rPr>
              <a:t>Security</a:t>
            </a:r>
            <a:endParaRPr lang="en-US" sz="1300" dirty="0"/>
          </a:p>
        </p:txBody>
      </p:sp>
      <p:sp>
        <p:nvSpPr>
          <p:cNvPr id="17" name="Text 15"/>
          <p:cNvSpPr txBox="1"/>
          <p:nvPr/>
        </p:nvSpPr>
        <p:spPr>
          <a:xfrm>
            <a:off x="6263640" y="2212848"/>
            <a:ext cx="1508760" cy="502920"/>
          </a:xfrm>
          <a:prstGeom prst="rect">
            <a:avLst/>
          </a:prstGeom>
          <a:noFill/>
          <a:ln/>
        </p:spPr>
        <p:txBody>
          <a:bodyPr wrap="square" lIns="0" tIns="0" rIns="0" bIns="0" rtlCol="0" anchor="t"/>
          <a:lstStyle/>
          <a:p>
            <a:pPr algn="ctr" indent="0" marL="0">
              <a:buNone/>
            </a:pPr>
            <a:r>
              <a:rPr lang="en-US" sz="1100" dirty="0">
                <a:solidFill>
                  <a:srgbClr val="5B6776"/>
                </a:solidFill>
                <a:latin typeface="Calibri" pitchFamily="34" charset="0"/>
                <a:ea typeface="Calibri" pitchFamily="34" charset="-122"/>
                <a:cs typeface="Calibri" pitchFamily="34" charset="-120"/>
              </a:rPr>
              <a:t>SAST, secretos, dependencias</a:t>
            </a:r>
            <a:endParaRPr lang="en-US" sz="1100" dirty="0"/>
          </a:p>
        </p:txBody>
      </p:sp>
      <p:sp>
        <p:nvSpPr>
          <p:cNvPr id="18" name="Text 16"/>
          <p:cNvSpPr txBox="1"/>
          <p:nvPr/>
        </p:nvSpPr>
        <p:spPr>
          <a:xfrm>
            <a:off x="7845552" y="1874520"/>
            <a:ext cx="219456" cy="548640"/>
          </a:xfrm>
          <a:prstGeom prst="rect">
            <a:avLst/>
          </a:prstGeom>
          <a:noFill/>
          <a:ln/>
        </p:spPr>
        <p:txBody>
          <a:bodyPr wrap="square" lIns="0" tIns="0" rIns="0" bIns="0" rtlCol="0" anchor="ctr"/>
          <a:lstStyle/>
          <a:p>
            <a:pPr algn="ctr" indent="0" marL="0">
              <a:buNone/>
            </a:pPr>
            <a:r>
              <a:rPr lang="en-US" sz="2400" b="1" dirty="0">
                <a:solidFill>
                  <a:srgbClr val="1F4E8C"/>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8046720" y="1600200"/>
            <a:ext cx="1691640" cy="1143000"/>
          </a:xfrm>
          <a:prstGeom prst="roundRect">
            <a:avLst>
              <a:gd name="adj" fmla="val 6400"/>
            </a:avLst>
          </a:prstGeom>
          <a:solidFill>
            <a:srgbClr val="14253D"/>
          </a:solidFill>
          <a:ln w="9525">
            <a:solidFill>
              <a:srgbClr val="1F4E8C"/>
            </a:solidFill>
            <a:prstDash val="solid"/>
          </a:ln>
        </p:spPr>
      </p:sp>
      <p:sp>
        <p:nvSpPr>
          <p:cNvPr id="20" name="Text 18"/>
          <p:cNvSpPr txBox="1"/>
          <p:nvPr/>
        </p:nvSpPr>
        <p:spPr>
          <a:xfrm>
            <a:off x="8138160" y="1664208"/>
            <a:ext cx="15087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Release</a:t>
            </a:r>
            <a:endParaRPr lang="en-US" sz="1300" dirty="0"/>
          </a:p>
        </p:txBody>
      </p:sp>
      <p:sp>
        <p:nvSpPr>
          <p:cNvPr id="21" name="Text 19"/>
          <p:cNvSpPr txBox="1"/>
          <p:nvPr/>
        </p:nvSpPr>
        <p:spPr>
          <a:xfrm>
            <a:off x="8138160" y="2212848"/>
            <a:ext cx="1508760" cy="502920"/>
          </a:xfrm>
          <a:prstGeom prst="rect">
            <a:avLst/>
          </a:prstGeom>
          <a:noFill/>
          <a:ln/>
        </p:spPr>
        <p:txBody>
          <a:bodyPr wrap="square" lIns="0" tIns="0" rIns="0" bIns="0" rtlCol="0" anchor="t"/>
          <a:lstStyle/>
          <a:p>
            <a:pPr algn="ctr" indent="0" marL="0">
              <a:buNone/>
            </a:pPr>
            <a:r>
              <a:rPr lang="en-US" sz="1100" dirty="0">
                <a:solidFill>
                  <a:srgbClr val="CFD8E6"/>
                </a:solidFill>
                <a:latin typeface="Calibri" pitchFamily="34" charset="0"/>
                <a:ea typeface="Calibri" pitchFamily="34" charset="-122"/>
                <a:cs typeface="Calibri" pitchFamily="34" charset="-120"/>
              </a:rPr>
              <a:t>aprobación humana segregada</a:t>
            </a:r>
            <a:endParaRPr lang="en-US" sz="1100" dirty="0"/>
          </a:p>
        </p:txBody>
      </p:sp>
      <p:sp>
        <p:nvSpPr>
          <p:cNvPr id="22" name="Text 20"/>
          <p:cNvSpPr txBox="1"/>
          <p:nvPr/>
        </p:nvSpPr>
        <p:spPr>
          <a:xfrm>
            <a:off x="9720072" y="1874520"/>
            <a:ext cx="219456" cy="548640"/>
          </a:xfrm>
          <a:prstGeom prst="rect">
            <a:avLst/>
          </a:prstGeom>
          <a:noFill/>
          <a:ln/>
        </p:spPr>
        <p:txBody>
          <a:bodyPr wrap="square" lIns="0" tIns="0" rIns="0" bIns="0" rtlCol="0" anchor="ctr"/>
          <a:lstStyle/>
          <a:p>
            <a:pPr algn="ctr" indent="0" marL="0">
              <a:buNone/>
            </a:pPr>
            <a:r>
              <a:rPr lang="en-US" sz="2400" b="1" dirty="0">
                <a:solidFill>
                  <a:srgbClr val="1F4E8C"/>
                </a:solidFill>
                <a:latin typeface="Calibri" pitchFamily="34" charset="0"/>
                <a:ea typeface="Calibri" pitchFamily="34" charset="-122"/>
                <a:cs typeface="Calibri" pitchFamily="34" charset="-120"/>
              </a:rPr>
              <a:t>›</a:t>
            </a:r>
            <a:endParaRPr lang="en-US" sz="2400" dirty="0"/>
          </a:p>
        </p:txBody>
      </p:sp>
      <p:sp>
        <p:nvSpPr>
          <p:cNvPr id="23" name="Shape 21"/>
          <p:cNvSpPr/>
          <p:nvPr/>
        </p:nvSpPr>
        <p:spPr>
          <a:xfrm>
            <a:off x="9921240" y="1600200"/>
            <a:ext cx="1691640" cy="1143000"/>
          </a:xfrm>
          <a:prstGeom prst="roundRect">
            <a:avLst>
              <a:gd name="adj" fmla="val 6400"/>
            </a:avLst>
          </a:prstGeom>
          <a:solidFill>
            <a:srgbClr val="DCE8F7"/>
          </a:solidFill>
          <a:ln w="9525">
            <a:solidFill>
              <a:srgbClr val="1F4E8C"/>
            </a:solidFill>
            <a:prstDash val="solid"/>
          </a:ln>
        </p:spPr>
      </p:sp>
      <p:sp>
        <p:nvSpPr>
          <p:cNvPr id="24" name="Text 22"/>
          <p:cNvSpPr txBox="1"/>
          <p:nvPr/>
        </p:nvSpPr>
        <p:spPr>
          <a:xfrm>
            <a:off x="10012680" y="1664208"/>
            <a:ext cx="1508760" cy="502920"/>
          </a:xfrm>
          <a:prstGeom prst="rect">
            <a:avLst/>
          </a:prstGeom>
          <a:noFill/>
          <a:ln/>
        </p:spPr>
        <p:txBody>
          <a:bodyPr wrap="square" lIns="0" tIns="0" rIns="0" bIns="0" rtlCol="0" anchor="ctr"/>
          <a:lstStyle/>
          <a:p>
            <a:pPr algn="ctr" indent="0" marL="0">
              <a:buNone/>
            </a:pPr>
            <a:r>
              <a:rPr lang="en-US" sz="1300" b="1" dirty="0">
                <a:solidFill>
                  <a:srgbClr val="14253D"/>
                </a:solidFill>
                <a:latin typeface="Calibri" pitchFamily="34" charset="0"/>
                <a:ea typeface="Calibri" pitchFamily="34" charset="-122"/>
                <a:cs typeface="Calibri" pitchFamily="34" charset="-120"/>
              </a:rPr>
              <a:t>Producción</a:t>
            </a:r>
            <a:endParaRPr lang="en-US" sz="1300" dirty="0"/>
          </a:p>
        </p:txBody>
      </p:sp>
      <p:sp>
        <p:nvSpPr>
          <p:cNvPr id="25" name="Text 23"/>
          <p:cNvSpPr txBox="1"/>
          <p:nvPr/>
        </p:nvSpPr>
        <p:spPr>
          <a:xfrm>
            <a:off x="10012680" y="2212848"/>
            <a:ext cx="1508760" cy="502920"/>
          </a:xfrm>
          <a:prstGeom prst="rect">
            <a:avLst/>
          </a:prstGeom>
          <a:noFill/>
          <a:ln/>
        </p:spPr>
        <p:txBody>
          <a:bodyPr wrap="square" lIns="0" tIns="0" rIns="0" bIns="0" rtlCol="0" anchor="t"/>
          <a:lstStyle/>
          <a:p>
            <a:pPr algn="ctr" indent="0" marL="0">
              <a:buNone/>
            </a:pPr>
            <a:r>
              <a:rPr lang="en-US" sz="1100" dirty="0">
                <a:solidFill>
                  <a:srgbClr val="5B6776"/>
                </a:solidFill>
                <a:latin typeface="Calibri" pitchFamily="34" charset="0"/>
                <a:ea typeface="Calibri" pitchFamily="34" charset="-122"/>
                <a:cs typeface="Calibri" pitchFamily="34" charset="-120"/>
              </a:rPr>
              <a:t>verificación y observabilidad</a:t>
            </a:r>
            <a:endParaRPr lang="en-US" sz="1100" dirty="0"/>
          </a:p>
        </p:txBody>
      </p:sp>
      <p:sp>
        <p:nvSpPr>
          <p:cNvPr id="26" name="Shape 24"/>
          <p:cNvSpPr/>
          <p:nvPr/>
        </p:nvSpPr>
        <p:spPr>
          <a:xfrm>
            <a:off x="548640" y="3017520"/>
            <a:ext cx="3611880" cy="2331720"/>
          </a:xfrm>
          <a:prstGeom prst="roundRect">
            <a:avLst>
              <a:gd name="adj" fmla="val 3137"/>
            </a:avLst>
          </a:prstGeom>
          <a:solidFill>
            <a:srgbClr val="F4F6F8"/>
          </a:solidFill>
          <a:ln w="9525">
            <a:solidFill>
              <a:srgbClr val="D9DEE5"/>
            </a:solidFill>
            <a:prstDash val="solid"/>
          </a:ln>
        </p:spPr>
      </p:sp>
      <p:sp>
        <p:nvSpPr>
          <p:cNvPr id="27" name="Text 25"/>
          <p:cNvSpPr txBox="1"/>
          <p:nvPr/>
        </p:nvSpPr>
        <p:spPr>
          <a:xfrm>
            <a:off x="777240" y="3127248"/>
            <a:ext cx="3200400"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Entrada</a:t>
            </a:r>
            <a:endParaRPr lang="en-US" sz="1800" dirty="0"/>
          </a:p>
        </p:txBody>
      </p:sp>
      <p:sp>
        <p:nvSpPr>
          <p:cNvPr id="28" name="Text 26"/>
          <p:cNvSpPr txBox="1"/>
          <p:nvPr/>
        </p:nvSpPr>
        <p:spPr>
          <a:xfrm>
            <a:off x="777240" y="3566160"/>
            <a:ext cx="3200400" cy="1691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Ningún requerimiento consume capacidad sin superar la Definition of Ready.</a:t>
            </a:r>
            <a:endParaRPr lang="en-US" sz="1400" dirty="0"/>
          </a:p>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Ambigüedades con su cita y su pregunta de aclaración.</a:t>
            </a:r>
            <a:endParaRPr lang="en-US" sz="1400" dirty="0"/>
          </a:p>
        </p:txBody>
      </p:sp>
      <p:sp>
        <p:nvSpPr>
          <p:cNvPr id="29" name="Shape 27"/>
          <p:cNvSpPr/>
          <p:nvPr/>
        </p:nvSpPr>
        <p:spPr>
          <a:xfrm>
            <a:off x="4297680" y="3017520"/>
            <a:ext cx="3611880" cy="2331720"/>
          </a:xfrm>
          <a:prstGeom prst="roundRect">
            <a:avLst>
              <a:gd name="adj" fmla="val 3137"/>
            </a:avLst>
          </a:prstGeom>
          <a:solidFill>
            <a:srgbClr val="F4F6F8"/>
          </a:solidFill>
          <a:ln w="9525">
            <a:solidFill>
              <a:srgbClr val="D9DEE5"/>
            </a:solidFill>
            <a:prstDash val="solid"/>
          </a:ln>
        </p:spPr>
      </p:sp>
      <p:sp>
        <p:nvSpPr>
          <p:cNvPr id="30" name="Text 28"/>
          <p:cNvSpPr txBox="1"/>
          <p:nvPr/>
        </p:nvSpPr>
        <p:spPr>
          <a:xfrm>
            <a:off x="4526280" y="3127248"/>
            <a:ext cx="3200400"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Construcción</a:t>
            </a:r>
            <a:endParaRPr lang="en-US" sz="1800" dirty="0"/>
          </a:p>
        </p:txBody>
      </p:sp>
      <p:sp>
        <p:nvSpPr>
          <p:cNvPr id="31" name="Text 29"/>
          <p:cNvSpPr txBox="1"/>
          <p:nvPr/>
        </p:nvSpPr>
        <p:spPr>
          <a:xfrm>
            <a:off x="4526280" y="3566160"/>
            <a:ext cx="3200400" cy="1691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Historias, criterios, riesgos, contrato, código y pruebas generados como borrador.</a:t>
            </a:r>
            <a:endParaRPr lang="en-US" sz="1400" dirty="0"/>
          </a:p>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Todo cita la frase fuente; lo desconocido se marca «por confirmar».</a:t>
            </a:r>
            <a:endParaRPr lang="en-US" sz="1400" dirty="0"/>
          </a:p>
        </p:txBody>
      </p:sp>
      <p:sp>
        <p:nvSpPr>
          <p:cNvPr id="32" name="Shape 30"/>
          <p:cNvSpPr/>
          <p:nvPr/>
        </p:nvSpPr>
        <p:spPr>
          <a:xfrm>
            <a:off x="8046720" y="3017520"/>
            <a:ext cx="3611880" cy="2331720"/>
          </a:xfrm>
          <a:prstGeom prst="roundRect">
            <a:avLst>
              <a:gd name="adj" fmla="val 3137"/>
            </a:avLst>
          </a:prstGeom>
          <a:solidFill>
            <a:srgbClr val="F4F6F8"/>
          </a:solidFill>
          <a:ln w="9525">
            <a:solidFill>
              <a:srgbClr val="D9DEE5"/>
            </a:solidFill>
            <a:prstDash val="solid"/>
          </a:ln>
        </p:spPr>
      </p:sp>
      <p:sp>
        <p:nvSpPr>
          <p:cNvPr id="33" name="Text 31"/>
          <p:cNvSpPr txBox="1"/>
          <p:nvPr/>
        </p:nvSpPr>
        <p:spPr>
          <a:xfrm>
            <a:off x="8275320" y="3127248"/>
            <a:ext cx="3200400"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Salida</a:t>
            </a:r>
            <a:endParaRPr lang="en-US" sz="1800" dirty="0"/>
          </a:p>
        </p:txBody>
      </p:sp>
      <p:sp>
        <p:nvSpPr>
          <p:cNvPr id="34" name="Text 32"/>
          <p:cNvSpPr txBox="1"/>
          <p:nvPr/>
        </p:nvSpPr>
        <p:spPr>
          <a:xfrm>
            <a:off x="8275320" y="3566160"/>
            <a:ext cx="3200400" cy="1691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Evidencia de cambio automática y readiness.</a:t>
            </a:r>
            <a:endParaRPr lang="en-US" sz="1400" dirty="0"/>
          </a:p>
          <a:p>
            <a:pPr marL="203200" indent="-2032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Aprobación humana: quien ejecuta no aprueba y reconoce los riesgos.</a:t>
            </a:r>
            <a:endParaRPr lang="en-US" sz="1400" dirty="0"/>
          </a:p>
        </p:txBody>
      </p:sp>
      <p:sp>
        <p:nvSpPr>
          <p:cNvPr id="35" name="Text 33"/>
          <p:cNvSpPr txBox="1"/>
          <p:nvPr/>
        </p:nvSpPr>
        <p:spPr>
          <a:xfrm>
            <a:off x="548640" y="5577840"/>
            <a:ext cx="11091672" cy="54864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Devoluciones documentales 30% → 8%   ·   Defectos post-QA 12% → 6%   ·   Un control que no se pudo ejecutar figura «no verificado», nunca «pasó»</a:t>
            </a:r>
            <a:endParaRPr lang="en-US" sz="1400" dirty="0"/>
          </a:p>
        </p:txBody>
      </p:sp>
      <p:sp>
        <p:nvSpPr>
          <p:cNvPr id="36" name="Text 34"/>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Arquitectura y gobierno: independiente del modelo, con el control en el Gateway</a:t>
            </a:r>
            <a:endParaRPr lang="en-US" sz="3200" dirty="0"/>
          </a:p>
        </p:txBody>
      </p:sp>
      <p:sp>
        <p:nvSpPr>
          <p:cNvPr id="3" name="Shape 1"/>
          <p:cNvSpPr/>
          <p:nvPr/>
        </p:nvSpPr>
        <p:spPr>
          <a:xfrm>
            <a:off x="548640" y="1600200"/>
            <a:ext cx="5120640" cy="822960"/>
          </a:xfrm>
          <a:prstGeom prst="roundRect">
            <a:avLst>
              <a:gd name="adj" fmla="val 8889"/>
            </a:avLst>
          </a:prstGeom>
          <a:solidFill>
            <a:srgbClr val="DCE8F7"/>
          </a:solidFill>
          <a:ln w="9525">
            <a:solidFill>
              <a:srgbClr val="1F4E8C"/>
            </a:solidFill>
            <a:prstDash val="solid"/>
          </a:ln>
        </p:spPr>
      </p:sp>
      <p:sp>
        <p:nvSpPr>
          <p:cNvPr id="4" name="Text 2"/>
          <p:cNvSpPr txBox="1"/>
          <p:nvPr/>
        </p:nvSpPr>
        <p:spPr>
          <a:xfrm>
            <a:off x="777240" y="1673352"/>
            <a:ext cx="4663440" cy="329184"/>
          </a:xfrm>
          <a:prstGeom prst="rect">
            <a:avLst/>
          </a:prstGeom>
          <a:noFill/>
          <a:ln/>
        </p:spPr>
        <p:txBody>
          <a:bodyPr wrap="square" lIns="0" tIns="0" rIns="0" bIns="0" rtlCol="0" anchor="t"/>
          <a:lstStyle/>
          <a:p>
            <a:pPr indent="0" marL="0">
              <a:buNone/>
            </a:pPr>
            <a:r>
              <a:rPr lang="en-US" sz="1600" b="1" dirty="0">
                <a:solidFill>
                  <a:srgbClr val="14253D"/>
                </a:solidFill>
                <a:latin typeface="Calibri" pitchFamily="34" charset="0"/>
                <a:ea typeface="Calibri" pitchFamily="34" charset="-122"/>
                <a:cs typeface="Calibri" pitchFamily="34" charset="-120"/>
              </a:rPr>
              <a:t>Aplicación</a:t>
            </a:r>
            <a:endParaRPr lang="en-US" sz="1600" dirty="0"/>
          </a:p>
        </p:txBody>
      </p:sp>
      <p:sp>
        <p:nvSpPr>
          <p:cNvPr id="5" name="Text 3"/>
          <p:cNvSpPr txBox="1"/>
          <p:nvPr/>
        </p:nvSpPr>
        <p:spPr>
          <a:xfrm>
            <a:off x="777240" y="2020824"/>
            <a:ext cx="4663440" cy="329184"/>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API (FastAPI) · RBAC · auditoría</a:t>
            </a:r>
            <a:endParaRPr lang="en-US" sz="1200" dirty="0"/>
          </a:p>
        </p:txBody>
      </p:sp>
      <p:sp>
        <p:nvSpPr>
          <p:cNvPr id="6" name="Text 4"/>
          <p:cNvSpPr txBox="1"/>
          <p:nvPr/>
        </p:nvSpPr>
        <p:spPr>
          <a:xfrm>
            <a:off x="2926080" y="2404872"/>
            <a:ext cx="365760" cy="237744"/>
          </a:xfrm>
          <a:prstGeom prst="rect">
            <a:avLst/>
          </a:prstGeom>
          <a:noFill/>
          <a:ln/>
        </p:spPr>
        <p:txBody>
          <a:bodyPr wrap="square" lIns="0" tIns="0" rIns="0" bIns="0" rtlCol="0" anchor="ctr"/>
          <a:lstStyle/>
          <a:p>
            <a:pPr algn="ctr" indent="0" marL="0">
              <a:buNone/>
            </a:pPr>
            <a:r>
              <a:rPr lang="en-US" sz="1100" dirty="0">
                <a:solidFill>
                  <a:srgbClr val="1F4E8C"/>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548640" y="2624328"/>
            <a:ext cx="5120640" cy="822960"/>
          </a:xfrm>
          <a:prstGeom prst="roundRect">
            <a:avLst>
              <a:gd name="adj" fmla="val 8889"/>
            </a:avLst>
          </a:prstGeom>
          <a:solidFill>
            <a:srgbClr val="DCE8F7"/>
          </a:solidFill>
          <a:ln w="9525">
            <a:solidFill>
              <a:srgbClr val="1F4E8C"/>
            </a:solidFill>
            <a:prstDash val="solid"/>
          </a:ln>
        </p:spPr>
      </p:sp>
      <p:sp>
        <p:nvSpPr>
          <p:cNvPr id="8" name="Text 6"/>
          <p:cNvSpPr txBox="1"/>
          <p:nvPr/>
        </p:nvSpPr>
        <p:spPr>
          <a:xfrm>
            <a:off x="777240" y="2697480"/>
            <a:ext cx="4663440" cy="329184"/>
          </a:xfrm>
          <a:prstGeom prst="rect">
            <a:avLst/>
          </a:prstGeom>
          <a:noFill/>
          <a:ln/>
        </p:spPr>
        <p:txBody>
          <a:bodyPr wrap="square" lIns="0" tIns="0" rIns="0" bIns="0" rtlCol="0" anchor="t"/>
          <a:lstStyle/>
          <a:p>
            <a:pPr indent="0" marL="0">
              <a:buNone/>
            </a:pPr>
            <a:r>
              <a:rPr lang="en-US" sz="1600" b="1" dirty="0">
                <a:solidFill>
                  <a:srgbClr val="14253D"/>
                </a:solidFill>
                <a:latin typeface="Calibri" pitchFamily="34" charset="0"/>
                <a:ea typeface="Calibri" pitchFamily="34" charset="-122"/>
                <a:cs typeface="Calibri" pitchFamily="34" charset="-120"/>
              </a:rPr>
              <a:t>Orquestación de IA</a:t>
            </a:r>
            <a:endParaRPr lang="en-US" sz="1600" dirty="0"/>
          </a:p>
        </p:txBody>
      </p:sp>
      <p:sp>
        <p:nvSpPr>
          <p:cNvPr id="9" name="Text 7"/>
          <p:cNvSpPr txBox="1"/>
          <p:nvPr/>
        </p:nvSpPr>
        <p:spPr>
          <a:xfrm>
            <a:off x="777240" y="3044952"/>
            <a:ext cx="4663440" cy="329184"/>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registro de prompts · gates · evaluación</a:t>
            </a:r>
            <a:endParaRPr lang="en-US" sz="1200" dirty="0"/>
          </a:p>
        </p:txBody>
      </p:sp>
      <p:sp>
        <p:nvSpPr>
          <p:cNvPr id="10" name="Text 8"/>
          <p:cNvSpPr txBox="1"/>
          <p:nvPr/>
        </p:nvSpPr>
        <p:spPr>
          <a:xfrm>
            <a:off x="2926080" y="3429000"/>
            <a:ext cx="365760" cy="237744"/>
          </a:xfrm>
          <a:prstGeom prst="rect">
            <a:avLst/>
          </a:prstGeom>
          <a:noFill/>
          <a:ln/>
        </p:spPr>
        <p:txBody>
          <a:bodyPr wrap="square" lIns="0" tIns="0" rIns="0" bIns="0" rtlCol="0" anchor="ctr"/>
          <a:lstStyle/>
          <a:p>
            <a:pPr algn="ctr" indent="0" marL="0">
              <a:buNone/>
            </a:pPr>
            <a:r>
              <a:rPr lang="en-US" sz="1100" dirty="0">
                <a:solidFill>
                  <a:srgbClr val="1F4E8C"/>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48640" y="3648456"/>
            <a:ext cx="5120640" cy="822960"/>
          </a:xfrm>
          <a:prstGeom prst="roundRect">
            <a:avLst>
              <a:gd name="adj" fmla="val 8889"/>
            </a:avLst>
          </a:prstGeom>
          <a:solidFill>
            <a:srgbClr val="14253D"/>
          </a:solidFill>
          <a:ln w="9525">
            <a:solidFill>
              <a:srgbClr val="1F4E8C"/>
            </a:solidFill>
            <a:prstDash val="solid"/>
          </a:ln>
        </p:spPr>
      </p:sp>
      <p:sp>
        <p:nvSpPr>
          <p:cNvPr id="12" name="Text 10"/>
          <p:cNvSpPr txBox="1"/>
          <p:nvPr/>
        </p:nvSpPr>
        <p:spPr>
          <a:xfrm>
            <a:off x="777240" y="3721608"/>
            <a:ext cx="4663440" cy="329184"/>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Model Gateway</a:t>
            </a:r>
            <a:endParaRPr lang="en-US" sz="1600" dirty="0"/>
          </a:p>
        </p:txBody>
      </p:sp>
      <p:sp>
        <p:nvSpPr>
          <p:cNvPr id="13" name="Text 11"/>
          <p:cNvSpPr txBox="1"/>
          <p:nvPr/>
        </p:nvSpPr>
        <p:spPr>
          <a:xfrm>
            <a:off x="777240" y="4069080"/>
            <a:ext cx="4663440" cy="329184"/>
          </a:xfrm>
          <a:prstGeom prst="rect">
            <a:avLst/>
          </a:prstGeom>
          <a:noFill/>
          <a:ln/>
        </p:spPr>
        <p:txBody>
          <a:bodyPr wrap="square" lIns="0" tIns="0" rIns="0" bIns="0" rtlCol="0" anchor="t"/>
          <a:lstStyle/>
          <a:p>
            <a:pPr indent="0" marL="0">
              <a:buNone/>
            </a:pPr>
            <a:r>
              <a:rPr lang="en-US" sz="1200" dirty="0">
                <a:solidFill>
                  <a:srgbClr val="CFD8E6"/>
                </a:solidFill>
                <a:latin typeface="Calibri" pitchFamily="34" charset="0"/>
                <a:ea typeface="Calibri" pitchFamily="34" charset="-122"/>
                <a:cs typeface="Calibri" pitchFamily="34" charset="-120"/>
              </a:rPr>
              <a:t>redacta PII · valida la salida · fallback · audita</a:t>
            </a:r>
            <a:endParaRPr lang="en-US" sz="1200" dirty="0"/>
          </a:p>
        </p:txBody>
      </p:sp>
      <p:sp>
        <p:nvSpPr>
          <p:cNvPr id="14" name="Text 12"/>
          <p:cNvSpPr txBox="1"/>
          <p:nvPr/>
        </p:nvSpPr>
        <p:spPr>
          <a:xfrm>
            <a:off x="2926080" y="4453128"/>
            <a:ext cx="365760" cy="237744"/>
          </a:xfrm>
          <a:prstGeom prst="rect">
            <a:avLst/>
          </a:prstGeom>
          <a:noFill/>
          <a:ln/>
        </p:spPr>
        <p:txBody>
          <a:bodyPr wrap="square" lIns="0" tIns="0" rIns="0" bIns="0" rtlCol="0" anchor="ctr"/>
          <a:lstStyle/>
          <a:p>
            <a:pPr algn="ctr" indent="0" marL="0">
              <a:buNone/>
            </a:pPr>
            <a:r>
              <a:rPr lang="en-US" sz="1100" dirty="0">
                <a:solidFill>
                  <a:srgbClr val="1F4E8C"/>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548640" y="4672584"/>
            <a:ext cx="5120640" cy="822960"/>
          </a:xfrm>
          <a:prstGeom prst="roundRect">
            <a:avLst>
              <a:gd name="adj" fmla="val 8889"/>
            </a:avLst>
          </a:prstGeom>
          <a:solidFill>
            <a:srgbClr val="F4F6F8"/>
          </a:solidFill>
          <a:ln w="9525">
            <a:solidFill>
              <a:srgbClr val="1F4E8C"/>
            </a:solidFill>
            <a:prstDash val="solid"/>
          </a:ln>
        </p:spPr>
      </p:sp>
      <p:sp>
        <p:nvSpPr>
          <p:cNvPr id="16" name="Text 14"/>
          <p:cNvSpPr txBox="1"/>
          <p:nvPr/>
        </p:nvSpPr>
        <p:spPr>
          <a:xfrm>
            <a:off x="777240" y="4745736"/>
            <a:ext cx="4663440" cy="329184"/>
          </a:xfrm>
          <a:prstGeom prst="rect">
            <a:avLst/>
          </a:prstGeom>
          <a:noFill/>
          <a:ln/>
        </p:spPr>
        <p:txBody>
          <a:bodyPr wrap="square" lIns="0" tIns="0" rIns="0" bIns="0" rtlCol="0" anchor="t"/>
          <a:lstStyle/>
          <a:p>
            <a:pPr indent="0" marL="0">
              <a:buNone/>
            </a:pPr>
            <a:r>
              <a:rPr lang="en-US" sz="1600" b="1" dirty="0">
                <a:solidFill>
                  <a:srgbClr val="14253D"/>
                </a:solidFill>
                <a:latin typeface="Calibri" pitchFamily="34" charset="0"/>
                <a:ea typeface="Calibri" pitchFamily="34" charset="-122"/>
                <a:cs typeface="Calibri" pitchFamily="34" charset="-120"/>
              </a:rPr>
              <a:t>Proveedor de modelo</a:t>
            </a:r>
            <a:endParaRPr lang="en-US" sz="1600" dirty="0"/>
          </a:p>
        </p:txBody>
      </p:sp>
      <p:sp>
        <p:nvSpPr>
          <p:cNvPr id="17" name="Text 15"/>
          <p:cNvSpPr txBox="1"/>
          <p:nvPr/>
        </p:nvSpPr>
        <p:spPr>
          <a:xfrm>
            <a:off x="777240" y="5093208"/>
            <a:ext cx="4663440" cy="329184"/>
          </a:xfrm>
          <a:prstGeom prst="rect">
            <a:avLst/>
          </a:prstGeom>
          <a:noFill/>
          <a:ln/>
        </p:spPr>
        <p:txBody>
          <a:bodyPr wrap="square" lIns="0" tIns="0" rIns="0" bIns="0" rtlCol="0" anchor="t"/>
          <a:lstStyle/>
          <a:p>
            <a:pPr indent="0" marL="0">
              <a:buNone/>
            </a:pPr>
            <a:r>
              <a:rPr lang="en-US" sz="1200" dirty="0">
                <a:solidFill>
                  <a:srgbClr val="5B6776"/>
                </a:solidFill>
                <a:latin typeface="Calibri" pitchFamily="34" charset="0"/>
                <a:ea typeface="Calibri" pitchFamily="34" charset="-122"/>
                <a:cs typeface="Calibri" pitchFamily="34" charset="-120"/>
              </a:rPr>
              <a:t>mock determinista hoy · nube, on-premises o modelo propio</a:t>
            </a:r>
            <a:endParaRPr lang="en-US" sz="1200" dirty="0"/>
          </a:p>
        </p:txBody>
      </p:sp>
      <p:sp>
        <p:nvSpPr>
          <p:cNvPr id="18" name="Text 16"/>
          <p:cNvSpPr txBox="1"/>
          <p:nvPr/>
        </p:nvSpPr>
        <p:spPr>
          <a:xfrm>
            <a:off x="548640" y="5760720"/>
            <a:ext cx="5120640" cy="365760"/>
          </a:xfrm>
          <a:prstGeom prst="rect">
            <a:avLst/>
          </a:prstGeom>
          <a:noFill/>
          <a:ln/>
        </p:spPr>
        <p:txBody>
          <a:bodyPr wrap="square" lIns="0" tIns="0" rIns="0" bIns="0" rtlCol="0" anchor="t"/>
          <a:lstStyle/>
          <a:p>
            <a:pPr indent="0" marL="0">
              <a:buNone/>
            </a:pPr>
            <a:r>
              <a:rPr lang="en-US" sz="1200" b="1" dirty="0">
                <a:solidFill>
                  <a:srgbClr val="1F4E8C"/>
                </a:solidFill>
                <a:latin typeface="Calibri" pitchFamily="34" charset="0"/>
                <a:ea typeface="Calibri" pitchFamily="34" charset="-122"/>
                <a:cs typeface="Calibri" pitchFamily="34" charset="-120"/>
              </a:rPr>
              <a:t>Auditoría append-only con hash encadenado  ·  Evaluación con golden datasets</a:t>
            </a:r>
            <a:endParaRPr lang="en-US" sz="1200" dirty="0"/>
          </a:p>
        </p:txBody>
      </p:sp>
      <p:sp>
        <p:nvSpPr>
          <p:cNvPr id="19" name="Text 17"/>
          <p:cNvSpPr txBox="1"/>
          <p:nvPr/>
        </p:nvSpPr>
        <p:spPr>
          <a:xfrm>
            <a:off x="6126480" y="1600200"/>
            <a:ext cx="548640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Autonomía L0–L5; techo L3 el primer año. La IA nunca aprueba su propio trabajo ni cambia controles regulatorios.</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Cada llamada deja modelo, versión del prompt y hashes. Ningún cambio de prompt o modelo se promueve sin pasar la evaluación.</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NRP-23 aplica expresamente a sociedades de seguros (Art. 2 d). Un LLM externo es tercerización de TI (Arts. 14 y 26, Anexo 1).</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Brecha reconocida: el sandbox de la demo es de proceso, no de contenedor.</a:t>
            </a:r>
            <a:endParaRPr lang="en-US" sz="1500" dirty="0"/>
          </a:p>
        </p:txBody>
      </p:sp>
      <p:sp>
        <p:nvSpPr>
          <p:cNvPr id="20" name="Text 18"/>
          <p:cNvSpPr txBox="1"/>
          <p:nvPr/>
        </p:nvSpPr>
        <p:spPr>
          <a:xfrm>
            <a:off x="6126480" y="5349240"/>
            <a:ext cx="5486400" cy="548640"/>
          </a:xfrm>
          <a:prstGeom prst="rect">
            <a:avLst/>
          </a:prstGeom>
          <a:noFill/>
          <a:ln/>
        </p:spPr>
        <p:txBody>
          <a:bodyPr wrap="square" lIns="0" tIns="0" rIns="0" bIns="0" rtlCol="0" anchor="t"/>
          <a:lstStyle/>
          <a:p>
            <a:pPr indent="0" marL="0">
              <a:buNone/>
            </a:pPr>
            <a:r>
              <a:rPr lang="en-US" sz="1300" b="1" dirty="0">
                <a:solidFill>
                  <a:srgbClr val="1F4E8C"/>
                </a:solidFill>
                <a:latin typeface="Calibri" pitchFamily="34" charset="0"/>
                <a:ea typeface="Calibri" pitchFamily="34" charset="-122"/>
                <a:cs typeface="Calibri" pitchFamily="34" charset="-120"/>
              </a:rPr>
              <a:t>148 pruebas del backend (también contra PostgreSQL real)  ·  27 de UI  ·  16 verificaciones E2E</a:t>
            </a:r>
            <a:endParaRPr lang="en-US" sz="1300" dirty="0"/>
          </a:p>
        </p:txBody>
      </p:sp>
      <p:sp>
        <p:nvSpPr>
          <p:cNvPr id="21" name="Text 19"/>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Roadmap de 12 meses: primero medir, luego escalar</a:t>
            </a:r>
            <a:endParaRPr lang="en-US" sz="3200" dirty="0"/>
          </a:p>
        </p:txBody>
      </p:sp>
      <p:sp>
        <p:nvSpPr>
          <p:cNvPr id="3" name="Shape 1"/>
          <p:cNvSpPr/>
          <p:nvPr/>
        </p:nvSpPr>
        <p:spPr>
          <a:xfrm>
            <a:off x="548640" y="1600200"/>
            <a:ext cx="2103120" cy="3063240"/>
          </a:xfrm>
          <a:prstGeom prst="roundRect">
            <a:avLst>
              <a:gd name="adj" fmla="val 3478"/>
            </a:avLst>
          </a:prstGeom>
          <a:solidFill>
            <a:srgbClr val="F4F6F8"/>
          </a:solidFill>
          <a:ln w="9525">
            <a:solidFill>
              <a:srgbClr val="D9DEE5"/>
            </a:solidFill>
            <a:prstDash val="solid"/>
          </a:ln>
        </p:spPr>
      </p:sp>
      <p:sp>
        <p:nvSpPr>
          <p:cNvPr id="4" name="Text 2"/>
          <p:cNvSpPr txBox="1"/>
          <p:nvPr/>
        </p:nvSpPr>
        <p:spPr>
          <a:xfrm>
            <a:off x="713232" y="1719072"/>
            <a:ext cx="1773936"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0–30 días</a:t>
            </a:r>
            <a:endParaRPr lang="en-US" sz="1800" dirty="0"/>
          </a:p>
        </p:txBody>
      </p:sp>
      <p:sp>
        <p:nvSpPr>
          <p:cNvPr id="5" name="Text 3"/>
          <p:cNvSpPr txBox="1"/>
          <p:nvPr/>
        </p:nvSpPr>
        <p:spPr>
          <a:xfrm>
            <a:off x="713232" y="2103120"/>
            <a:ext cx="1773936" cy="64008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Diagnóstico y baseline medido</a:t>
            </a:r>
            <a:endParaRPr lang="en-US" sz="1400" dirty="0"/>
          </a:p>
        </p:txBody>
      </p:sp>
      <p:sp>
        <p:nvSpPr>
          <p:cNvPr id="6" name="Text 4"/>
          <p:cNvSpPr txBox="1"/>
          <p:nvPr/>
        </p:nvSpPr>
        <p:spPr>
          <a:xfrm>
            <a:off x="713232" y="2788920"/>
            <a:ext cx="1773936" cy="96012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Política de IA · normas confirmadas · 2 células piloto</a:t>
            </a:r>
            <a:endParaRPr lang="en-US" sz="1200" dirty="0"/>
          </a:p>
        </p:txBody>
      </p:sp>
      <p:sp>
        <p:nvSpPr>
          <p:cNvPr id="7" name="Text 5"/>
          <p:cNvSpPr txBox="1"/>
          <p:nvPr/>
        </p:nvSpPr>
        <p:spPr>
          <a:xfrm>
            <a:off x="713232" y="3840480"/>
            <a:ext cx="1773936" cy="228600"/>
          </a:xfrm>
          <a:prstGeom prst="rect">
            <a:avLst/>
          </a:prstGeom>
          <a:noFill/>
          <a:ln/>
        </p:spPr>
        <p:txBody>
          <a:bodyPr wrap="square" lIns="0" tIns="0" rIns="0" bIns="0" rtlCol="0" anchor="t"/>
          <a:lstStyle/>
          <a:p>
            <a:pPr indent="0" marL="0">
              <a:buNone/>
            </a:pPr>
            <a:r>
              <a:rPr lang="en-US" sz="1000" b="1" spc="100" kern="0" dirty="0">
                <a:solidFill>
                  <a:srgbClr val="5B6776"/>
                </a:solidFill>
                <a:latin typeface="Calibri" pitchFamily="34" charset="0"/>
                <a:ea typeface="Calibri" pitchFamily="34" charset="-122"/>
                <a:cs typeface="Calibri" pitchFamily="34" charset="-120"/>
              </a:rPr>
              <a:t>DECISIÓN</a:t>
            </a:r>
            <a:endParaRPr lang="en-US" sz="1000" dirty="0"/>
          </a:p>
        </p:txBody>
      </p:sp>
      <p:sp>
        <p:nvSpPr>
          <p:cNvPr id="8" name="Text 6"/>
          <p:cNvSpPr txBox="1"/>
          <p:nvPr/>
        </p:nvSpPr>
        <p:spPr>
          <a:xfrm>
            <a:off x="713232" y="4069080"/>
            <a:ext cx="1773936" cy="502920"/>
          </a:xfrm>
          <a:prstGeom prst="rect">
            <a:avLst/>
          </a:prstGeom>
          <a:noFill/>
          <a:ln/>
        </p:spPr>
        <p:txBody>
          <a:bodyPr wrap="square" lIns="0" tIns="0" rIns="0" bIns="0" rtlCol="0" anchor="t"/>
          <a:lstStyle/>
          <a:p>
            <a:pPr indent="0" marL="0">
              <a:buNone/>
            </a:pPr>
            <a:r>
              <a:rPr lang="en-US" sz="1300" b="1" dirty="0">
                <a:solidFill>
                  <a:srgbClr val="14253D"/>
                </a:solidFill>
                <a:latin typeface="Calibri" pitchFamily="34" charset="0"/>
                <a:ea typeface="Calibri" pitchFamily="34" charset="-122"/>
                <a:cs typeface="Calibri" pitchFamily="34" charset="-120"/>
              </a:rPr>
              <a:t>Aprobar política y WIP</a:t>
            </a:r>
            <a:endParaRPr lang="en-US" sz="1300" dirty="0"/>
          </a:p>
        </p:txBody>
      </p:sp>
      <p:sp>
        <p:nvSpPr>
          <p:cNvPr id="9" name="Shape 7"/>
          <p:cNvSpPr/>
          <p:nvPr/>
        </p:nvSpPr>
        <p:spPr>
          <a:xfrm>
            <a:off x="2761488" y="1600200"/>
            <a:ext cx="2103120" cy="3063240"/>
          </a:xfrm>
          <a:prstGeom prst="roundRect">
            <a:avLst>
              <a:gd name="adj" fmla="val 3478"/>
            </a:avLst>
          </a:prstGeom>
          <a:solidFill>
            <a:srgbClr val="DCE8F7"/>
          </a:solidFill>
          <a:ln w="9525">
            <a:solidFill>
              <a:srgbClr val="D9DEE5"/>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2926080" y="1719072"/>
            <a:ext cx="1773936"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30–90 días</a:t>
            </a:r>
            <a:endParaRPr lang="en-US" sz="1800" dirty="0"/>
          </a:p>
        </p:txBody>
      </p:sp>
      <p:sp>
        <p:nvSpPr>
          <p:cNvPr id="11" name="Text 9"/>
          <p:cNvSpPr txBox="1"/>
          <p:nvPr/>
        </p:nvSpPr>
        <p:spPr>
          <a:xfrm>
            <a:off x="2926080" y="2103120"/>
            <a:ext cx="1773936" cy="64008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Pilotos y plataforma</a:t>
            </a:r>
            <a:endParaRPr lang="en-US" sz="1400" dirty="0"/>
          </a:p>
        </p:txBody>
      </p:sp>
      <p:sp>
        <p:nvSpPr>
          <p:cNvPr id="12" name="Text 10"/>
          <p:cNvSpPr txBox="1"/>
          <p:nvPr/>
        </p:nvSpPr>
        <p:spPr>
          <a:xfrm>
            <a:off x="2926080" y="2788920"/>
            <a:ext cx="1773936" cy="96012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DoR y pipeline en 2 células · primer scorecard</a:t>
            </a:r>
            <a:endParaRPr lang="en-US" sz="1200" dirty="0"/>
          </a:p>
        </p:txBody>
      </p:sp>
      <p:sp>
        <p:nvSpPr>
          <p:cNvPr id="13" name="Text 11"/>
          <p:cNvSpPr txBox="1"/>
          <p:nvPr/>
        </p:nvSpPr>
        <p:spPr>
          <a:xfrm>
            <a:off x="2926080" y="3840480"/>
            <a:ext cx="1773936" cy="228600"/>
          </a:xfrm>
          <a:prstGeom prst="rect">
            <a:avLst/>
          </a:prstGeom>
          <a:noFill/>
          <a:ln/>
        </p:spPr>
        <p:txBody>
          <a:bodyPr wrap="square" lIns="0" tIns="0" rIns="0" bIns="0" rtlCol="0" anchor="t"/>
          <a:lstStyle/>
          <a:p>
            <a:pPr indent="0" marL="0">
              <a:buNone/>
            </a:pPr>
            <a:r>
              <a:rPr lang="en-US" sz="1000" b="1" spc="100" kern="0" dirty="0">
                <a:solidFill>
                  <a:srgbClr val="5B6776"/>
                </a:solidFill>
                <a:latin typeface="Calibri" pitchFamily="34" charset="0"/>
                <a:ea typeface="Calibri" pitchFamily="34" charset="-122"/>
                <a:cs typeface="Calibri" pitchFamily="34" charset="-120"/>
              </a:rPr>
              <a:t>DECISIÓN</a:t>
            </a:r>
            <a:endParaRPr lang="en-US" sz="1000" dirty="0"/>
          </a:p>
        </p:txBody>
      </p:sp>
      <p:sp>
        <p:nvSpPr>
          <p:cNvPr id="14" name="Text 12"/>
          <p:cNvSpPr txBox="1"/>
          <p:nvPr/>
        </p:nvSpPr>
        <p:spPr>
          <a:xfrm>
            <a:off x="2926080" y="4069080"/>
            <a:ext cx="1773936" cy="502920"/>
          </a:xfrm>
          <a:prstGeom prst="rect">
            <a:avLst/>
          </a:prstGeom>
          <a:noFill/>
          <a:ln/>
        </p:spPr>
        <p:txBody>
          <a:bodyPr wrap="square" lIns="0" tIns="0" rIns="0" bIns="0" rtlCol="0" anchor="t"/>
          <a:lstStyle/>
          <a:p>
            <a:pPr indent="0" marL="0">
              <a:buNone/>
            </a:pPr>
            <a:r>
              <a:rPr lang="en-US" sz="1300" b="1" dirty="0">
                <a:solidFill>
                  <a:srgbClr val="14253D"/>
                </a:solidFill>
                <a:latin typeface="Calibri" pitchFamily="34" charset="0"/>
                <a:ea typeface="Calibri" pitchFamily="34" charset="-122"/>
                <a:cs typeface="Calibri" pitchFamily="34" charset="-120"/>
              </a:rPr>
              <a:t>Escalar, ajustar o parar</a:t>
            </a:r>
            <a:endParaRPr lang="en-US" sz="1300" dirty="0"/>
          </a:p>
        </p:txBody>
      </p:sp>
      <p:sp>
        <p:nvSpPr>
          <p:cNvPr id="15" name="Shape 13"/>
          <p:cNvSpPr/>
          <p:nvPr/>
        </p:nvSpPr>
        <p:spPr>
          <a:xfrm>
            <a:off x="4974336" y="1600200"/>
            <a:ext cx="2103120" cy="3063240"/>
          </a:xfrm>
          <a:prstGeom prst="roundRect">
            <a:avLst>
              <a:gd name="adj" fmla="val 3478"/>
            </a:avLst>
          </a:prstGeom>
          <a:solidFill>
            <a:srgbClr val="F4F6F8"/>
          </a:solidFill>
          <a:ln w="9525">
            <a:solidFill>
              <a:srgbClr val="D9DEE5"/>
            </a:solidFill>
            <a:prstDash val="solid"/>
          </a:ln>
        </p:spPr>
      </p:sp>
      <p:sp>
        <p:nvSpPr>
          <p:cNvPr id="16" name="Text 14"/>
          <p:cNvSpPr txBox="1"/>
          <p:nvPr/>
        </p:nvSpPr>
        <p:spPr>
          <a:xfrm>
            <a:off x="5138928" y="1719072"/>
            <a:ext cx="1773936"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3–6 meses</a:t>
            </a:r>
            <a:endParaRPr lang="en-US" sz="1800" dirty="0"/>
          </a:p>
        </p:txBody>
      </p:sp>
      <p:sp>
        <p:nvSpPr>
          <p:cNvPr id="17" name="Text 15"/>
          <p:cNvSpPr txBox="1"/>
          <p:nvPr/>
        </p:nvSpPr>
        <p:spPr>
          <a:xfrm>
            <a:off x="5138928" y="2103120"/>
            <a:ext cx="1773936" cy="64008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Escalar y automatizar</a:t>
            </a:r>
            <a:endParaRPr lang="en-US" sz="1400" dirty="0"/>
          </a:p>
        </p:txBody>
      </p:sp>
      <p:sp>
        <p:nvSpPr>
          <p:cNvPr id="18" name="Text 16"/>
          <p:cNvSpPr txBox="1"/>
          <p:nvPr/>
        </p:nvSpPr>
        <p:spPr>
          <a:xfrm>
            <a:off x="5138928" y="2788920"/>
            <a:ext cx="1773936" cy="96012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7 células · ≥ 35% automatizado · contratos por resultados</a:t>
            </a:r>
            <a:endParaRPr lang="en-US" sz="1200" dirty="0"/>
          </a:p>
        </p:txBody>
      </p:sp>
      <p:sp>
        <p:nvSpPr>
          <p:cNvPr id="19" name="Text 17"/>
          <p:cNvSpPr txBox="1"/>
          <p:nvPr/>
        </p:nvSpPr>
        <p:spPr>
          <a:xfrm>
            <a:off x="5138928" y="3840480"/>
            <a:ext cx="1773936" cy="228600"/>
          </a:xfrm>
          <a:prstGeom prst="rect">
            <a:avLst/>
          </a:prstGeom>
          <a:noFill/>
          <a:ln/>
        </p:spPr>
        <p:txBody>
          <a:bodyPr wrap="square" lIns="0" tIns="0" rIns="0" bIns="0" rtlCol="0" anchor="t"/>
          <a:lstStyle/>
          <a:p>
            <a:pPr indent="0" marL="0">
              <a:buNone/>
            </a:pPr>
            <a:r>
              <a:rPr lang="en-US" sz="1000" b="1" spc="100" kern="0" dirty="0">
                <a:solidFill>
                  <a:srgbClr val="5B6776"/>
                </a:solidFill>
                <a:latin typeface="Calibri" pitchFamily="34" charset="0"/>
                <a:ea typeface="Calibri" pitchFamily="34" charset="-122"/>
                <a:cs typeface="Calibri" pitchFamily="34" charset="-120"/>
              </a:rPr>
              <a:t>DECISIÓN</a:t>
            </a:r>
            <a:endParaRPr lang="en-US" sz="1000" dirty="0"/>
          </a:p>
        </p:txBody>
      </p:sp>
      <p:sp>
        <p:nvSpPr>
          <p:cNvPr id="20" name="Text 18"/>
          <p:cNvSpPr txBox="1"/>
          <p:nvPr/>
        </p:nvSpPr>
        <p:spPr>
          <a:xfrm>
            <a:off x="5138928" y="4069080"/>
            <a:ext cx="1773936" cy="502920"/>
          </a:xfrm>
          <a:prstGeom prst="rect">
            <a:avLst/>
          </a:prstGeom>
          <a:noFill/>
          <a:ln/>
        </p:spPr>
        <p:txBody>
          <a:bodyPr wrap="square" lIns="0" tIns="0" rIns="0" bIns="0" rtlCol="0" anchor="t"/>
          <a:lstStyle/>
          <a:p>
            <a:pPr indent="0" marL="0">
              <a:buNone/>
            </a:pPr>
            <a:r>
              <a:rPr lang="en-US" sz="1300" b="1" dirty="0">
                <a:solidFill>
                  <a:srgbClr val="14253D"/>
                </a:solidFill>
                <a:latin typeface="Calibri" pitchFamily="34" charset="0"/>
                <a:ea typeface="Calibri" pitchFamily="34" charset="-122"/>
                <a:cs typeface="Calibri" pitchFamily="34" charset="-120"/>
              </a:rPr>
              <a:t>Modelo con proveedores</a:t>
            </a:r>
            <a:endParaRPr lang="en-US" sz="1300" dirty="0"/>
          </a:p>
        </p:txBody>
      </p:sp>
      <p:sp>
        <p:nvSpPr>
          <p:cNvPr id="21" name="Shape 19"/>
          <p:cNvSpPr/>
          <p:nvPr/>
        </p:nvSpPr>
        <p:spPr>
          <a:xfrm>
            <a:off x="7187184" y="1600200"/>
            <a:ext cx="2103120" cy="3063240"/>
          </a:xfrm>
          <a:prstGeom prst="roundRect">
            <a:avLst>
              <a:gd name="adj" fmla="val 3478"/>
            </a:avLst>
          </a:prstGeom>
          <a:solidFill>
            <a:srgbClr val="F4F6F8"/>
          </a:solidFill>
          <a:ln w="9525">
            <a:solidFill>
              <a:srgbClr val="D9DEE5"/>
            </a:solidFill>
            <a:prstDash val="solid"/>
          </a:ln>
        </p:spPr>
      </p:sp>
      <p:sp>
        <p:nvSpPr>
          <p:cNvPr id="22" name="Text 20"/>
          <p:cNvSpPr txBox="1"/>
          <p:nvPr/>
        </p:nvSpPr>
        <p:spPr>
          <a:xfrm>
            <a:off x="7351776" y="1719072"/>
            <a:ext cx="1773936"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6–9 meses</a:t>
            </a:r>
            <a:endParaRPr lang="en-US" sz="1800" dirty="0"/>
          </a:p>
        </p:txBody>
      </p:sp>
      <p:sp>
        <p:nvSpPr>
          <p:cNvPr id="23" name="Text 21"/>
          <p:cNvSpPr txBox="1"/>
          <p:nvPr/>
        </p:nvSpPr>
        <p:spPr>
          <a:xfrm>
            <a:off x="7351776" y="2103120"/>
            <a:ext cx="1773936" cy="64008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Cobertura total y legacy</a:t>
            </a:r>
            <a:endParaRPr lang="en-US" sz="1400" dirty="0"/>
          </a:p>
        </p:txBody>
      </p:sp>
      <p:sp>
        <p:nvSpPr>
          <p:cNvPr id="24" name="Text 22"/>
          <p:cNvSpPr txBox="1"/>
          <p:nvPr/>
        </p:nvSpPr>
        <p:spPr>
          <a:xfrm>
            <a:off x="7351776" y="2788920"/>
            <a:ext cx="1773936" cy="96012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8 células · ≥ 50% automatizado · change failure ≤ 6%</a:t>
            </a:r>
            <a:endParaRPr lang="en-US" sz="1200" dirty="0"/>
          </a:p>
        </p:txBody>
      </p:sp>
      <p:sp>
        <p:nvSpPr>
          <p:cNvPr id="25" name="Text 23"/>
          <p:cNvSpPr txBox="1"/>
          <p:nvPr/>
        </p:nvSpPr>
        <p:spPr>
          <a:xfrm>
            <a:off x="7351776" y="3840480"/>
            <a:ext cx="1773936" cy="228600"/>
          </a:xfrm>
          <a:prstGeom prst="rect">
            <a:avLst/>
          </a:prstGeom>
          <a:noFill/>
          <a:ln/>
        </p:spPr>
        <p:txBody>
          <a:bodyPr wrap="square" lIns="0" tIns="0" rIns="0" bIns="0" rtlCol="0" anchor="t"/>
          <a:lstStyle/>
          <a:p>
            <a:pPr indent="0" marL="0">
              <a:buNone/>
            </a:pPr>
            <a:r>
              <a:rPr lang="en-US" sz="1000" b="1" spc="100" kern="0" dirty="0">
                <a:solidFill>
                  <a:srgbClr val="5B6776"/>
                </a:solidFill>
                <a:latin typeface="Calibri" pitchFamily="34" charset="0"/>
                <a:ea typeface="Calibri" pitchFamily="34" charset="-122"/>
                <a:cs typeface="Calibri" pitchFamily="34" charset="-120"/>
              </a:rPr>
              <a:t>DECISIÓN</a:t>
            </a:r>
            <a:endParaRPr lang="en-US" sz="1000" dirty="0"/>
          </a:p>
        </p:txBody>
      </p:sp>
      <p:sp>
        <p:nvSpPr>
          <p:cNvPr id="26" name="Text 24"/>
          <p:cNvSpPr txBox="1"/>
          <p:nvPr/>
        </p:nvSpPr>
        <p:spPr>
          <a:xfrm>
            <a:off x="7351776" y="4069080"/>
            <a:ext cx="1773936" cy="502920"/>
          </a:xfrm>
          <a:prstGeom prst="rect">
            <a:avLst/>
          </a:prstGeom>
          <a:noFill/>
          <a:ln/>
        </p:spPr>
        <p:txBody>
          <a:bodyPr wrap="square" lIns="0" tIns="0" rIns="0" bIns="0" rtlCol="0" anchor="t"/>
          <a:lstStyle/>
          <a:p>
            <a:pPr indent="0" marL="0">
              <a:buNone/>
            </a:pPr>
            <a:r>
              <a:rPr lang="en-US" sz="1300" b="1" dirty="0">
                <a:solidFill>
                  <a:srgbClr val="14253D"/>
                </a:solidFill>
                <a:latin typeface="Calibri" pitchFamily="34" charset="0"/>
                <a:ea typeface="Calibri" pitchFamily="34" charset="-122"/>
                <a:cs typeface="Calibri" pitchFamily="34" charset="-120"/>
              </a:rPr>
              <a:t>Inversión en legacy</a:t>
            </a:r>
            <a:endParaRPr lang="en-US" sz="1300" dirty="0"/>
          </a:p>
        </p:txBody>
      </p:sp>
      <p:sp>
        <p:nvSpPr>
          <p:cNvPr id="27" name="Shape 25"/>
          <p:cNvSpPr/>
          <p:nvPr/>
        </p:nvSpPr>
        <p:spPr>
          <a:xfrm>
            <a:off x="9400032" y="1600200"/>
            <a:ext cx="2103120" cy="3063240"/>
          </a:xfrm>
          <a:prstGeom prst="roundRect">
            <a:avLst>
              <a:gd name="adj" fmla="val 3478"/>
            </a:avLst>
          </a:prstGeom>
          <a:solidFill>
            <a:srgbClr val="F4F6F8"/>
          </a:solidFill>
          <a:ln w="9525">
            <a:solidFill>
              <a:srgbClr val="D9DEE5"/>
            </a:solidFill>
            <a:prstDash val="solid"/>
          </a:ln>
        </p:spPr>
      </p:sp>
      <p:sp>
        <p:nvSpPr>
          <p:cNvPr id="28" name="Text 26"/>
          <p:cNvSpPr txBox="1"/>
          <p:nvPr/>
        </p:nvSpPr>
        <p:spPr>
          <a:xfrm>
            <a:off x="9564624" y="1719072"/>
            <a:ext cx="1773936" cy="365760"/>
          </a:xfrm>
          <a:prstGeom prst="rect">
            <a:avLst/>
          </a:prstGeom>
          <a:noFill/>
          <a:ln/>
        </p:spPr>
        <p:txBody>
          <a:bodyPr wrap="square" lIns="0" tIns="0" rIns="0" bIns="0" rtlCol="0" anchor="t"/>
          <a:lstStyle/>
          <a:p>
            <a:pPr indent="0" marL="0">
              <a:buNone/>
            </a:pPr>
            <a:r>
              <a:rPr lang="en-US" sz="1800" b="1" dirty="0">
                <a:solidFill>
                  <a:srgbClr val="14253D"/>
                </a:solidFill>
                <a:latin typeface="Cambria" pitchFamily="34" charset="0"/>
                <a:ea typeface="Cambria" pitchFamily="34" charset="-122"/>
                <a:cs typeface="Cambria" pitchFamily="34" charset="-120"/>
              </a:rPr>
              <a:t>9–12 meses</a:t>
            </a:r>
            <a:endParaRPr lang="en-US" sz="1800" dirty="0"/>
          </a:p>
        </p:txBody>
      </p:sp>
      <p:sp>
        <p:nvSpPr>
          <p:cNvPr id="29" name="Text 27"/>
          <p:cNvSpPr txBox="1"/>
          <p:nvPr/>
        </p:nvSpPr>
        <p:spPr>
          <a:xfrm>
            <a:off x="9564624" y="2103120"/>
            <a:ext cx="1773936" cy="640080"/>
          </a:xfrm>
          <a:prstGeom prst="rect">
            <a:avLst/>
          </a:prstGeom>
          <a:noFill/>
          <a:ln/>
        </p:spPr>
        <p:txBody>
          <a:bodyPr wrap="square" lIns="0" tIns="0" rIns="0" bIns="0" rtlCol="0" anchor="t"/>
          <a:lstStyle/>
          <a:p>
            <a:pPr indent="0" marL="0">
              <a:buNone/>
            </a:pPr>
            <a:r>
              <a:rPr lang="en-US" sz="1400" b="1" dirty="0">
                <a:solidFill>
                  <a:srgbClr val="1F4E8C"/>
                </a:solidFill>
                <a:latin typeface="Calibri" pitchFamily="34" charset="0"/>
                <a:ea typeface="Calibri" pitchFamily="34" charset="-122"/>
                <a:cs typeface="Calibri" pitchFamily="34" charset="-120"/>
              </a:rPr>
              <a:t>Consolidar y medir</a:t>
            </a:r>
            <a:endParaRPr lang="en-US" sz="1400" dirty="0"/>
          </a:p>
        </p:txBody>
      </p:sp>
      <p:sp>
        <p:nvSpPr>
          <p:cNvPr id="30" name="Text 28"/>
          <p:cNvSpPr txBox="1"/>
          <p:nvPr/>
        </p:nvSpPr>
        <p:spPr>
          <a:xfrm>
            <a:off x="9564624" y="2788920"/>
            <a:ext cx="1773936" cy="960120"/>
          </a:xfrm>
          <a:prstGeom prst="rect">
            <a:avLst/>
          </a:prstGeom>
          <a:noFill/>
          <a:ln/>
        </p:spPr>
        <p:txBody>
          <a:bodyPr wrap="square" lIns="0" tIns="0" rIns="0" bIns="0" rtlCol="0" anchor="t"/>
          <a:lstStyle/>
          <a:p>
            <a:pPr indent="0" marL="0">
              <a:buNone/>
            </a:pPr>
            <a:r>
              <a:rPr lang="en-US" sz="1200" dirty="0">
                <a:solidFill>
                  <a:srgbClr val="1B2430"/>
                </a:solidFill>
                <a:latin typeface="Calibri" pitchFamily="34" charset="0"/>
                <a:ea typeface="Calibri" pitchFamily="34" charset="-122"/>
                <a:cs typeface="Calibri" pitchFamily="34" charset="-120"/>
              </a:rPr>
              <a:t>Targets a régimen · informe auditable</a:t>
            </a:r>
            <a:endParaRPr lang="en-US" sz="1200" dirty="0"/>
          </a:p>
        </p:txBody>
      </p:sp>
      <p:sp>
        <p:nvSpPr>
          <p:cNvPr id="31" name="Text 29"/>
          <p:cNvSpPr txBox="1"/>
          <p:nvPr/>
        </p:nvSpPr>
        <p:spPr>
          <a:xfrm>
            <a:off x="9564624" y="3840480"/>
            <a:ext cx="1773936" cy="228600"/>
          </a:xfrm>
          <a:prstGeom prst="rect">
            <a:avLst/>
          </a:prstGeom>
          <a:noFill/>
          <a:ln/>
        </p:spPr>
        <p:txBody>
          <a:bodyPr wrap="square" lIns="0" tIns="0" rIns="0" bIns="0" rtlCol="0" anchor="t"/>
          <a:lstStyle/>
          <a:p>
            <a:pPr indent="0" marL="0">
              <a:buNone/>
            </a:pPr>
            <a:r>
              <a:rPr lang="en-US" sz="1000" b="1" spc="100" kern="0" dirty="0">
                <a:solidFill>
                  <a:srgbClr val="5B6776"/>
                </a:solidFill>
                <a:latin typeface="Calibri" pitchFamily="34" charset="0"/>
                <a:ea typeface="Calibri" pitchFamily="34" charset="-122"/>
                <a:cs typeface="Calibri" pitchFamily="34" charset="-120"/>
              </a:rPr>
              <a:t>DECISIÓN</a:t>
            </a:r>
            <a:endParaRPr lang="en-US" sz="1000" dirty="0"/>
          </a:p>
        </p:txBody>
      </p:sp>
      <p:sp>
        <p:nvSpPr>
          <p:cNvPr id="32" name="Text 30"/>
          <p:cNvSpPr txBox="1"/>
          <p:nvPr/>
        </p:nvSpPr>
        <p:spPr>
          <a:xfrm>
            <a:off x="9564624" y="4069080"/>
            <a:ext cx="1773936" cy="502920"/>
          </a:xfrm>
          <a:prstGeom prst="rect">
            <a:avLst/>
          </a:prstGeom>
          <a:noFill/>
          <a:ln/>
        </p:spPr>
        <p:txBody>
          <a:bodyPr wrap="square" lIns="0" tIns="0" rIns="0" bIns="0" rtlCol="0" anchor="t"/>
          <a:lstStyle/>
          <a:p>
            <a:pPr indent="0" marL="0">
              <a:buNone/>
            </a:pPr>
            <a:r>
              <a:rPr lang="en-US" sz="1300" b="1" dirty="0">
                <a:solidFill>
                  <a:srgbClr val="14253D"/>
                </a:solidFill>
                <a:latin typeface="Calibri" pitchFamily="34" charset="0"/>
                <a:ea typeface="Calibri" pitchFamily="34" charset="-122"/>
                <a:cs typeface="Calibri" pitchFamily="34" charset="-120"/>
              </a:rPr>
              <a:t>Plan del año 2</a:t>
            </a:r>
            <a:endParaRPr lang="en-US" sz="1300" dirty="0"/>
          </a:p>
        </p:txBody>
      </p:sp>
      <p:sp>
        <p:nvSpPr>
          <p:cNvPr id="33" name="Shape 31"/>
          <p:cNvSpPr/>
          <p:nvPr/>
        </p:nvSpPr>
        <p:spPr>
          <a:xfrm>
            <a:off x="548640" y="4846320"/>
            <a:ext cx="11091672" cy="1097280"/>
          </a:xfrm>
          <a:prstGeom prst="roundRect">
            <a:avLst>
              <a:gd name="adj" fmla="val 6667"/>
            </a:avLst>
          </a:prstGeom>
          <a:solidFill>
            <a:srgbClr val="FFF3D6"/>
          </a:solidFill>
          <a:ln w="9525">
            <a:solidFill>
              <a:srgbClr val="D9DEE5"/>
            </a:solidFill>
            <a:prstDash val="solid"/>
          </a:ln>
        </p:spPr>
      </p:sp>
      <p:sp>
        <p:nvSpPr>
          <p:cNvPr id="34" name="Text 32"/>
          <p:cNvSpPr txBox="1"/>
          <p:nvPr/>
        </p:nvSpPr>
        <p:spPr>
          <a:xfrm>
            <a:off x="777240" y="4919472"/>
            <a:ext cx="10515600" cy="292608"/>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Decisión a los 90 días (criterios pactados el día 30, antes de ver resultados)</a:t>
            </a:r>
            <a:endParaRPr lang="en-US" sz="1300" dirty="0"/>
          </a:p>
        </p:txBody>
      </p:sp>
      <p:sp>
        <p:nvSpPr>
          <p:cNvPr id="35" name="Text 33"/>
          <p:cNvSpPr txBox="1"/>
          <p:nvPr/>
        </p:nvSpPr>
        <p:spPr>
          <a:xfrm>
            <a:off x="777240" y="5257800"/>
            <a:ext cx="10607040" cy="594360"/>
          </a:xfrm>
          <a:prstGeom prst="rect">
            <a:avLst/>
          </a:prstGeom>
          <a:noFill/>
          <a:ln/>
        </p:spPr>
        <p:txBody>
          <a:bodyPr wrap="square" lIns="0" tIns="0" rIns="0" bIns="0" rtlCol="0" anchor="t"/>
          <a:lstStyle/>
          <a:p>
            <a:pPr indent="0" marL="0">
              <a:buNone/>
            </a:pPr>
            <a:r>
              <a:rPr lang="en-US" sz="1400" dirty="0">
                <a:solidFill>
                  <a:srgbClr val="1B2430"/>
                </a:solidFill>
                <a:latin typeface="Calibri" pitchFamily="34" charset="0"/>
                <a:ea typeface="Calibri" pitchFamily="34" charset="-122"/>
                <a:cs typeface="Calibri" pitchFamily="34" charset="-120"/>
              </a:rPr>
              <a:t>Retrabajo −5 puntos y salvaguardas estables → escalar   ·   Mejora la velocidad pero empeora una salvaguarda → ajustar   ·   Adopción &lt; 30% → no escalar: revisar el diseño del cambio</a:t>
            </a:r>
            <a:endParaRPr lang="en-US" sz="1400" dirty="0"/>
          </a:p>
        </p:txBody>
      </p:sp>
      <p:sp>
        <p:nvSpPr>
          <p:cNvPr id="36" name="Text 34"/>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14253D"/>
                </a:solidFill>
                <a:latin typeface="Cambria" pitchFamily="34" charset="0"/>
                <a:ea typeface="Cambria" pitchFamily="34" charset="-122"/>
                <a:cs typeface="Cambria" pitchFamily="34" charset="-120"/>
              </a:rPr>
              <a:t>Caso de negocio: el valor viene del retrabajo, del trabajo repetitivo y de la demanda</a:t>
            </a:r>
            <a:endParaRPr lang="en-US" sz="3200" dirty="0"/>
          </a:p>
        </p:txBody>
      </p:sp>
      <p:graphicFrame>
        <p:nvGraphicFramePr>
          <p:cNvPr id="3" name="Chart 0" descr=""/>
          <p:cNvGraphicFramePr/>
          <p:nvPr/>
        </p:nvGraphicFramePr>
        <p:xfrm>
          <a:off x="548640" y="1508760"/>
          <a:ext cx="66751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98080" y="1600200"/>
          <a:ext cx="4160520" cy="914400"/>
        </p:xfrm>
        <a:graphic>
          <a:graphicData uri="http://schemas.openxmlformats.org/drawingml/2006/table">
            <a:tbl>
              <a:tblPr/>
              <a:tblGrid>
                <a:gridCol w="1600200"/>
                <a:gridCol w="1280160"/>
                <a:gridCol w="128016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Escenario</a:t>
                      </a:r>
                      <a:endParaRPr lang="en-US" sz="12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5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Capacidad</a:t>
                      </a:r>
                      <a:endParaRPr lang="en-US" sz="12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5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 valor</a:t>
                      </a:r>
                      <a:endParaRPr lang="en-US" sz="12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53D"/>
                    </a:solidFill>
                  </a:tcPr>
                </a:tc>
              </a:tr>
              <a:tr h="329184">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Conservador</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dirty="0">
                          <a:solidFill>
                            <a:srgbClr val="1B2430"/>
                          </a:solidFill>
                          <a:latin typeface="Calibri" pitchFamily="34" charset="0"/>
                          <a:ea typeface="Calibri" pitchFamily="34" charset="-122"/>
                          <a:cs typeface="Calibri" pitchFamily="34" charset="-120"/>
                        </a:rPr>
                        <a:t>1.61×</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algn="l" indent="0" marL="0">
                        <a:buNone/>
                      </a:pPr>
                      <a:r>
                        <a:rPr lang="en-US" sz="1300" b="1" dirty="0">
                          <a:solidFill>
                            <a:srgbClr val="1B2430"/>
                          </a:solidFill>
                          <a:latin typeface="Calibri" pitchFamily="34" charset="0"/>
                          <a:ea typeface="Calibri" pitchFamily="34" charset="-122"/>
                          <a:cs typeface="Calibri" pitchFamily="34" charset="-120"/>
                        </a:rPr>
                        <a:t>Stretch</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b="1" dirty="0">
                          <a:solidFill>
                            <a:srgbClr val="1B2430"/>
                          </a:solidFill>
                          <a:latin typeface="Calibri" pitchFamily="34" charset="0"/>
                          <a:ea typeface="Calibri" pitchFamily="34" charset="-122"/>
                          <a:cs typeface="Calibri" pitchFamily="34" charset="-120"/>
                        </a:rPr>
                        <a:t>1.80×</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300" b="1" dirty="0">
                          <a:solidFill>
                            <a:srgbClr val="B3261E"/>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5" name="Text 1"/>
          <p:cNvSpPr txBox="1"/>
          <p:nvPr/>
        </p:nvSpPr>
        <p:spPr>
          <a:xfrm>
            <a:off x="7498080" y="3108960"/>
            <a:ext cx="416052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2× de valor es el techo de los rangos, no un valor esperado: exige el Stretch completo, o el Base más diferir ≈ 26% del alcance.</a:t>
            </a:r>
            <a:endParaRPr lang="en-US" sz="1300" dirty="0"/>
          </a:p>
          <a:p>
            <a:pPr marL="203200" indent="-203200">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Simulación con adopción parcial: mediana 1.42× (P10 1.31 – P90 1.54); P(≥1.5×) = 19%.</a:t>
            </a:r>
            <a:endParaRPr lang="en-US" sz="1300" dirty="0"/>
          </a:p>
          <a:p>
            <a:pPr marL="203200" indent="-203200">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Inversión año 1 ≈ $261 k (supuesto). Base: neto ≈ +$222 k, recuperación ≈ 3 meses. Conservador: ≈ −$43 k.</a:t>
            </a:r>
            <a:endParaRPr lang="en-US" sz="1300" dirty="0"/>
          </a:p>
        </p:txBody>
      </p:sp>
      <p:sp>
        <p:nvSpPr>
          <p:cNvPr id="6" name="Text 2"/>
          <p:cNvSpPr txBox="1"/>
          <p:nvPr/>
        </p:nvSpPr>
        <p:spPr>
          <a:xfrm>
            <a:off x="7498080" y="5486400"/>
            <a:ext cx="4160520" cy="457200"/>
          </a:xfrm>
          <a:prstGeom prst="rect">
            <a:avLst/>
          </a:prstGeom>
          <a:noFill/>
          <a:ln/>
        </p:spPr>
        <p:txBody>
          <a:bodyPr wrap="square" lIns="0" tIns="0" rIns="0" bIns="0" rtlCol="0" anchor="t"/>
          <a:lstStyle/>
          <a:p>
            <a:pPr indent="0" marL="0">
              <a:buNone/>
            </a:pPr>
            <a:r>
              <a:rPr lang="en-US" sz="1100" i="1" dirty="0">
                <a:solidFill>
                  <a:srgbClr val="5B6776"/>
                </a:solidFill>
                <a:latin typeface="Calibri" pitchFamily="34" charset="0"/>
                <a:ea typeface="Calibri" pitchFamily="34" charset="-122"/>
                <a:cs typeface="Calibri" pitchFamily="34" charset="-120"/>
              </a:rPr>
              <a:t>Costo evitado, no ahorro de caja. Salvaguardas: calidad, seguridad, cumplimiento y estabilidad.</a:t>
            </a:r>
            <a:endParaRPr lang="en-US" sz="1100" dirty="0"/>
          </a:p>
        </p:txBody>
      </p:sp>
      <p:sp>
        <p:nvSpPr>
          <p:cNvPr id="7" name="Text 3"/>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5B6776"/>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53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Riesgos, decisiones y resultados esperados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1874520"/>
                <a:gridCol w="388620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Riesgo</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2B4A7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2B4A75"/>
                    </a:solidFill>
                  </a:tcPr>
                </a:tc>
              </a:tr>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Adopción baja</a:t>
                      </a:r>
                      <a:endParaRPr lang="en-US" sz="13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c>
                  <a:txBody>
                    <a:bodyPr/>
                    <a:lstStyle/>
                    <a:p>
                      <a:pPr indent="0" marL="0">
                        <a:buNone/>
                      </a:pPr>
                      <a:r>
                        <a:rPr lang="en-US" sz="1200" dirty="0">
                          <a:solidFill>
                            <a:srgbClr val="E3EAF4"/>
                          </a:solidFill>
                          <a:latin typeface="Calibri" pitchFamily="34" charset="0"/>
                          <a:ea typeface="Calibri" pitchFamily="34" charset="-122"/>
                          <a:cs typeface="Calibri" pitchFamily="34" charset="-120"/>
                        </a:rPr>
                        <a:t>AI Champions, pilotos voluntarios, métrica de adopción</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r>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Fuga de datos</a:t>
                      </a:r>
                      <a:endParaRPr lang="en-US" sz="13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c>
                  <a:txBody>
                    <a:bodyPr/>
                    <a:lstStyle/>
                    <a:p>
                      <a:pPr indent="0" marL="0">
                        <a:buNone/>
                      </a:pPr>
                      <a:r>
                        <a:rPr lang="en-US" sz="1200" dirty="0">
                          <a:solidFill>
                            <a:srgbClr val="E3EAF4"/>
                          </a:solidFill>
                          <a:latin typeface="Calibri" pitchFamily="34" charset="0"/>
                          <a:ea typeface="Calibri" pitchFamily="34" charset="-122"/>
                          <a:cs typeface="Calibri" pitchFamily="34" charset="-120"/>
                        </a:rPr>
                        <a:t>PII redactada antes del modelo; sin datos de clientes a terceros hasta cerrar la tercerización</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r>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Código inseguro</a:t>
                      </a:r>
                      <a:endParaRPr lang="en-US" sz="13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c>
                  <a:txBody>
                    <a:bodyPr/>
                    <a:lstStyle/>
                    <a:p>
                      <a:pPr indent="0" marL="0">
                        <a:buNone/>
                      </a:pPr>
                      <a:r>
                        <a:rPr lang="en-US" sz="1200" dirty="0">
                          <a:solidFill>
                            <a:srgbClr val="E3EAF4"/>
                          </a:solidFill>
                          <a:latin typeface="Calibri" pitchFamily="34" charset="0"/>
                          <a:ea typeface="Calibri" pitchFamily="34" charset="-122"/>
                          <a:cs typeface="Calibri" pitchFamily="34" charset="-120"/>
                        </a:rPr>
                        <a:t>Política estática, SAST, pruebas contra contrato, aprobación humana</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r>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Baseline distinto del supuesto</a:t>
                      </a:r>
                      <a:endParaRPr lang="en-US" sz="13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c>
                  <a:txBody>
                    <a:bodyPr/>
                    <a:lstStyle/>
                    <a:p>
                      <a:pPr indent="0" marL="0">
                        <a:buNone/>
                      </a:pPr>
                      <a:r>
                        <a:rPr lang="en-US" sz="1200" dirty="0">
                          <a:solidFill>
                            <a:srgbClr val="E3EAF4"/>
                          </a:solidFill>
                          <a:latin typeface="Calibri" pitchFamily="34" charset="0"/>
                          <a:ea typeface="Calibri" pitchFamily="34" charset="-122"/>
                          <a:cs typeface="Calibri" pitchFamily="34" charset="-120"/>
                        </a:rPr>
                        <a:t>Medir en 30 días antes de comprometer cifras</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r>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Una salvaguarda se degrada</a:t>
                      </a:r>
                      <a:endParaRPr lang="en-US" sz="13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c>
                  <a:txBody>
                    <a:bodyPr/>
                    <a:lstStyle/>
                    <a:p>
                      <a:pPr indent="0" marL="0">
                        <a:buNone/>
                      </a:pPr>
                      <a:r>
                        <a:rPr lang="en-US" sz="1200" dirty="0">
                          <a:solidFill>
                            <a:srgbClr val="E3EAF4"/>
                          </a:solidFill>
                          <a:latin typeface="Calibri" pitchFamily="34" charset="0"/>
                          <a:ea typeface="Calibri" pitchFamily="34" charset="-122"/>
                          <a:cs typeface="Calibri" pitchFamily="34" charset="-120"/>
                        </a:rPr>
                        <a:t>Regla anti-Goodhart: no se escala; se corrige</a:t>
                      </a:r>
                      <a:endParaRPr lang="en-US" sz="1200" dirty="0">
                        <a:latin typeface="Calibri" charset="0"/>
                        <a:ea typeface="Calibri" charset="0"/>
                        <a:cs typeface="Calibri" charset="0"/>
                      </a:endParaRPr>
                    </a:p>
                  </a:txBody>
                  <a:tcPr marL="101600" marR="101600" marT="38100" marB="38100">
                    <a:lnL w="9525" cap="flat" cmpd="sng" algn="ctr">
                      <a:solidFill>
                        <a:srgbClr val="2B4A75"/>
                      </a:solidFill>
                      <a:prstDash val="solid"/>
                      <a:round/>
                      <a:headEnd type="none" w="med" len="med"/>
                      <a:tailEnd type="none" w="med" len="med"/>
                    </a:lnL>
                    <a:lnR w="9525" cap="flat" cmpd="sng" algn="ctr">
                      <a:solidFill>
                        <a:srgbClr val="2B4A75"/>
                      </a:solidFill>
                      <a:prstDash val="solid"/>
                      <a:round/>
                      <a:headEnd type="none" w="med" len="med"/>
                      <a:tailEnd type="none" w="med" len="med"/>
                    </a:lnR>
                    <a:lnT w="9525" cap="flat" cmpd="sng" algn="ctr">
                      <a:solidFill>
                        <a:srgbClr val="2B4A75"/>
                      </a:solidFill>
                      <a:prstDash val="solid"/>
                      <a:round/>
                      <a:headEnd type="none" w="med" len="med"/>
                      <a:tailEnd type="none" w="med" len="med"/>
                    </a:lnT>
                    <a:lnB w="9525" cap="flat" cmpd="sng" algn="ctr">
                      <a:solidFill>
                        <a:srgbClr val="2B4A75"/>
                      </a:solidFill>
                      <a:prstDash val="solid"/>
                      <a:round/>
                      <a:headEnd type="none" w="med" len="med"/>
                      <a:tailEnd type="none" w="med" len="med"/>
                    </a:lnB>
                    <a:solidFill>
                      <a:srgbClr val="1D3558"/>
                    </a:solidFill>
                  </a:tcPr>
                </a:tc>
              </a:tr>
            </a:tbl>
          </a:graphicData>
        </a:graphic>
      </p:graphicFrame>
      <p:sp>
        <p:nvSpPr>
          <p:cNvPr id="4" name="Text 1"/>
          <p:cNvSpPr txBox="1"/>
          <p:nvPr/>
        </p:nvSpPr>
        <p:spPr>
          <a:xfrm>
            <a:off x="6675120" y="1508760"/>
            <a:ext cx="4937760" cy="320040"/>
          </a:xfrm>
          <a:prstGeom prst="rect">
            <a:avLst/>
          </a:prstGeom>
          <a:noFill/>
          <a:ln/>
        </p:spPr>
        <p:txBody>
          <a:bodyPr wrap="square" lIns="0" tIns="0" rIns="0" bIns="0" rtlCol="0" anchor="t"/>
          <a:lstStyle/>
          <a:p>
            <a:pPr indent="0" marL="0">
              <a:buNone/>
            </a:pPr>
            <a:r>
              <a:rPr lang="en-US" sz="1200" b="1" spc="100" kern="0" dirty="0">
                <a:solidFill>
                  <a:srgbClr val="F2C14E"/>
                </a:solidFill>
                <a:latin typeface="Calibri" pitchFamily="34" charset="0"/>
                <a:ea typeface="Calibri" pitchFamily="34" charset="-122"/>
                <a:cs typeface="Calibri" pitchFamily="34" charset="-120"/>
              </a:rPr>
              <a:t>CINCO DECISIONES QUE PIDO</a:t>
            </a:r>
            <a:endParaRPr lang="en-US" sz="1200" dirty="0"/>
          </a:p>
        </p:txBody>
      </p:sp>
      <p:sp>
        <p:nvSpPr>
          <p:cNvPr id="5" name="Text 2"/>
          <p:cNvSpPr txBox="1"/>
          <p:nvPr/>
        </p:nvSpPr>
        <p:spPr>
          <a:xfrm>
            <a:off x="6675120" y="1874520"/>
            <a:ext cx="4983480" cy="2697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Aprobar la política de uso de IA y el comité ligero.</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Congelar el WIP en 6 y priorizar el portafolio con el negocio.</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Dos células piloto y un presupuesto mínimo de plataforma.</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Compromiso escalonado con revisión a los 90 días.</a:t>
            </a:r>
            <a:endParaRPr lang="en-US" sz="1400" dirty="0"/>
          </a:p>
          <a:p>
            <a:pPr marL="342900" indent="-342900">
              <a:spcAft>
                <a:spcPts val="6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Con Cumplimiento: normas aplicables y dónde se aloja el modelo.</a:t>
            </a:r>
            <a:endParaRPr lang="en-US" sz="1400" dirty="0"/>
          </a:p>
        </p:txBody>
      </p:sp>
      <p:sp>
        <p:nvSpPr>
          <p:cNvPr id="6" name="Shape 3"/>
          <p:cNvSpPr/>
          <p:nvPr/>
        </p:nvSpPr>
        <p:spPr>
          <a:xfrm>
            <a:off x="548640" y="4937760"/>
            <a:ext cx="11091672" cy="1280160"/>
          </a:xfrm>
          <a:prstGeom prst="roundRect">
            <a:avLst>
              <a:gd name="adj" fmla="val 5714"/>
            </a:avLst>
          </a:prstGeom>
          <a:solidFill>
            <a:srgbClr val="1D3558"/>
          </a:solidFill>
          <a:ln w="9525">
            <a:solidFill>
              <a:srgbClr val="D9DEE5"/>
            </a:solidFill>
            <a:prstDash val="solid"/>
          </a:ln>
        </p:spPr>
      </p:sp>
      <p:sp>
        <p:nvSpPr>
          <p:cNvPr id="7" name="Text 4"/>
          <p:cNvSpPr txBox="1"/>
          <p:nvPr/>
        </p:nvSpPr>
        <p:spPr>
          <a:xfrm>
            <a:off x="822960" y="5029200"/>
            <a:ext cx="10515600" cy="320040"/>
          </a:xfrm>
          <a:prstGeom prst="rect">
            <a:avLst/>
          </a:prstGeom>
          <a:noFill/>
          <a:ln/>
        </p:spPr>
        <p:txBody>
          <a:bodyPr wrap="square" lIns="0" tIns="0" rIns="0" bIns="0" rtlCol="0" anchor="t"/>
          <a:lstStyle/>
          <a:p>
            <a:pPr indent="0" marL="0">
              <a:buNone/>
            </a:pPr>
            <a:r>
              <a:rPr lang="en-US" sz="1300" b="1" dirty="0">
                <a:solidFill>
                  <a:srgbClr val="F2C14E"/>
                </a:solidFill>
                <a:latin typeface="Calibri" pitchFamily="34" charset="0"/>
                <a:ea typeface="Calibri" pitchFamily="34" charset="-122"/>
                <a:cs typeface="Calibri" pitchFamily="34" charset="-120"/>
              </a:rPr>
              <a:t>Sabremos en 12 meses que funcionó si…</a:t>
            </a:r>
            <a:endParaRPr lang="en-US" sz="1300" dirty="0"/>
          </a:p>
        </p:txBody>
      </p:sp>
      <p:sp>
        <p:nvSpPr>
          <p:cNvPr id="8" name="Text 5"/>
          <p:cNvSpPr txBox="1"/>
          <p:nvPr/>
        </p:nvSpPr>
        <p:spPr>
          <a:xfrm>
            <a:off x="822960" y="5376672"/>
            <a:ext cx="10789920"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capacidad de valor medida supera el piso comprometido  ·  Calidad, seguridad, cumplimiento y estabilidad no empeoraron  ·  Entregamos la demanda adicional de +50% sin una sola plaza nueva  ·  Los proveedores trabajan por resultados</a:t>
            </a:r>
            <a:endParaRPr lang="en-US" sz="1400" dirty="0"/>
          </a:p>
        </p:txBody>
      </p:sp>
      <p:sp>
        <p:nvSpPr>
          <p:cNvPr id="9" name="Text 6"/>
          <p:cNvSpPr txBox="1"/>
          <p:nvPr/>
        </p:nvSpPr>
        <p:spPr>
          <a:xfrm>
            <a:off x="548640" y="6473952"/>
            <a:ext cx="10360152" cy="274320"/>
          </a:xfrm>
          <a:prstGeom prst="rect">
            <a:avLst/>
          </a:prstGeom>
          <a:noFill/>
          <a:ln/>
        </p:spPr>
        <p:txBody>
          <a:bodyPr wrap="square" lIns="0" tIns="0" rIns="0" bIns="0" rtlCol="0" anchor="ctr"/>
          <a:lstStyle/>
          <a:p>
            <a:pPr indent="0" marL="0">
              <a:buNone/>
            </a:pPr>
            <a:r>
              <a:rPr lang="en-US" sz="1000" dirty="0">
                <a:solidFill>
                  <a:srgbClr val="9AA8B8"/>
                </a:solidFill>
                <a:latin typeface="Calibri" pitchFamily="34" charset="0"/>
                <a:ea typeface="Calibri" pitchFamily="34" charset="-122"/>
                <a:cs typeface="Calibri" pitchFamily="34" charset="-120"/>
              </a:rPr>
              <a:t>Datos del caso y cifras de palancas, costos y retorno: supuestos (ver ASSUMPTIONS.md). Datos de la demo: sintéticos.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Transformación AI-First del ciclo de entrega — Director de Soluciones</dc:title>
  <dc:subject>PptxGenJS Presentation</dc:subject>
  <dc:creator>Candidato a Director de Soluciones</dc:creator>
  <cp:lastModifiedBy>Candidato a Director de Soluciones</cp:lastModifiedBy>
  <cp:revision>1</cp:revision>
  <dcterms:created xsi:type="dcterms:W3CDTF">2026-10-01T20:23:44Z</dcterms:created>
  <dcterms:modified xsi:type="dcterms:W3CDTF">2026-10-01T20:23:44Z</dcterms:modified>
</cp:coreProperties>
</file>